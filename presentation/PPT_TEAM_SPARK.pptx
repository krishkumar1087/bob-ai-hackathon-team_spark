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DM Sans" pitchFamily="2" charset="0"/>
      <p:regular r:id="rId19"/>
    </p:embeddedFont>
    <p:embeddedFont>
      <p:font typeface="DM Sans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15-Sep-26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B33">
                <a:alpha val="5764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sz="2800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90600" y="2800350"/>
            <a:ext cx="10668000" cy="1556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60"/>
              </a:lnSpc>
            </a:pPr>
            <a:r>
              <a:rPr lang="en-US" sz="11500" b="1" spc="-336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PortsPilot AI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0600" y="4448175"/>
            <a:ext cx="8839200" cy="8871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4000" b="1" dirty="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Predict the bottleneck before the world feels it.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0600" y="5591175"/>
            <a:ext cx="8001000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32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AI-powered decision intelligence for smarter maritime and port operations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0600" y="8801100"/>
            <a:ext cx="7239000" cy="239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b="1" spc="152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SMART PORT OPERATIONS  /  DECISION SUPPORT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0600" y="590550"/>
            <a:ext cx="11430000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b="1" spc="162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THE OPERATIONAL CHALLENGE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90600" y="1076325"/>
            <a:ext cx="14287500" cy="1661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5400" b="1">
                <a:solidFill>
                  <a:srgbClr val="10293F"/>
                </a:solidFill>
                <a:latin typeface="DM Sans Bold"/>
                <a:ea typeface="DM Sans Bold"/>
                <a:cs typeface="DM Sans Bold"/>
                <a:sym typeface="DM Sans Bold"/>
              </a:rPr>
              <a:t>Ports don’t fail suddenly. Bottlenecks build quietly.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649700" y="438150"/>
            <a:ext cx="647700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lang="en-US" sz="2400">
                <a:solidFill>
                  <a:srgbClr val="597084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66800" y="3505200"/>
            <a:ext cx="2114550" cy="1200150"/>
            <a:chOff x="0" y="0"/>
            <a:chExt cx="2819400" cy="1600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19400" cy="1600200"/>
            </a:xfrm>
            <a:custGeom>
              <a:avLst/>
              <a:gdLst/>
              <a:ahLst/>
              <a:cxnLst/>
              <a:rect l="l" t="t" r="r" b="b"/>
              <a:pathLst>
                <a:path w="2819400" h="1600200">
                  <a:moveTo>
                    <a:pt x="91532" y="0"/>
                  </a:moveTo>
                  <a:lnTo>
                    <a:pt x="2727868" y="0"/>
                  </a:lnTo>
                  <a:cubicBezTo>
                    <a:pt x="2778420" y="0"/>
                    <a:pt x="2819400" y="40980"/>
                    <a:pt x="2819400" y="91532"/>
                  </a:cubicBezTo>
                  <a:lnTo>
                    <a:pt x="2819400" y="1508668"/>
                  </a:lnTo>
                  <a:cubicBezTo>
                    <a:pt x="2819400" y="1559220"/>
                    <a:pt x="2778420" y="1600200"/>
                    <a:pt x="2727868" y="1600200"/>
                  </a:cubicBezTo>
                  <a:lnTo>
                    <a:pt x="91532" y="1600200"/>
                  </a:lnTo>
                  <a:cubicBezTo>
                    <a:pt x="40980" y="1600200"/>
                    <a:pt x="0" y="1559220"/>
                    <a:pt x="0" y="1508668"/>
                  </a:cubicBezTo>
                  <a:lnTo>
                    <a:pt x="0" y="91532"/>
                  </a:lnTo>
                  <a:cubicBezTo>
                    <a:pt x="0" y="40980"/>
                    <a:pt x="40980" y="0"/>
                    <a:pt x="9153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2819400" cy="1590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 dirty="0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VESSEL</a:t>
              </a:r>
            </a:p>
            <a:p>
              <a:pPr algn="ctr"/>
              <a:r>
                <a:rPr lang="en-US" sz="2000" b="1" dirty="0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SURGE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3219450" y="4105275"/>
            <a:ext cx="495300" cy="0"/>
          </a:xfrm>
          <a:prstGeom prst="line">
            <a:avLst/>
          </a:prstGeom>
          <a:ln w="28575" cap="rnd">
            <a:solidFill>
              <a:srgbClr val="00A7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12" name="Group 12"/>
          <p:cNvGrpSpPr/>
          <p:nvPr/>
        </p:nvGrpSpPr>
        <p:grpSpPr>
          <a:xfrm>
            <a:off x="3848100" y="3505200"/>
            <a:ext cx="2114550" cy="1200150"/>
            <a:chOff x="0" y="0"/>
            <a:chExt cx="2819400" cy="1600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19400" cy="1600200"/>
            </a:xfrm>
            <a:custGeom>
              <a:avLst/>
              <a:gdLst/>
              <a:ahLst/>
              <a:cxnLst/>
              <a:rect l="l" t="t" r="r" b="b"/>
              <a:pathLst>
                <a:path w="2819400" h="1600200">
                  <a:moveTo>
                    <a:pt x="91532" y="0"/>
                  </a:moveTo>
                  <a:lnTo>
                    <a:pt x="2727868" y="0"/>
                  </a:lnTo>
                  <a:cubicBezTo>
                    <a:pt x="2778420" y="0"/>
                    <a:pt x="2819400" y="40980"/>
                    <a:pt x="2819400" y="91532"/>
                  </a:cubicBezTo>
                  <a:lnTo>
                    <a:pt x="2819400" y="1508668"/>
                  </a:lnTo>
                  <a:cubicBezTo>
                    <a:pt x="2819400" y="1559220"/>
                    <a:pt x="2778420" y="1600200"/>
                    <a:pt x="2727868" y="1600200"/>
                  </a:cubicBezTo>
                  <a:lnTo>
                    <a:pt x="91532" y="1600200"/>
                  </a:lnTo>
                  <a:cubicBezTo>
                    <a:pt x="40980" y="1600200"/>
                    <a:pt x="0" y="1559220"/>
                    <a:pt x="0" y="1508668"/>
                  </a:cubicBezTo>
                  <a:lnTo>
                    <a:pt x="0" y="91532"/>
                  </a:lnTo>
                  <a:cubicBezTo>
                    <a:pt x="0" y="40980"/>
                    <a:pt x="40980" y="0"/>
                    <a:pt x="9153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2819400" cy="1590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BERTH</a:t>
              </a:r>
            </a:p>
            <a:p>
              <a:pPr algn="ctr"/>
              <a:r>
                <a:rPr lang="en-US" sz="20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PRESSURE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6000750" y="4105275"/>
            <a:ext cx="495300" cy="0"/>
          </a:xfrm>
          <a:prstGeom prst="line">
            <a:avLst/>
          </a:prstGeom>
          <a:ln w="28575" cap="rnd">
            <a:solidFill>
              <a:srgbClr val="00A7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16" name="Group 16"/>
          <p:cNvGrpSpPr/>
          <p:nvPr/>
        </p:nvGrpSpPr>
        <p:grpSpPr>
          <a:xfrm>
            <a:off x="6629400" y="3505200"/>
            <a:ext cx="2114550" cy="1200150"/>
            <a:chOff x="0" y="0"/>
            <a:chExt cx="2819400" cy="1600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819400" cy="1600200"/>
            </a:xfrm>
            <a:custGeom>
              <a:avLst/>
              <a:gdLst/>
              <a:ahLst/>
              <a:cxnLst/>
              <a:rect l="l" t="t" r="r" b="b"/>
              <a:pathLst>
                <a:path w="2819400" h="1600200">
                  <a:moveTo>
                    <a:pt x="91532" y="0"/>
                  </a:moveTo>
                  <a:lnTo>
                    <a:pt x="2727868" y="0"/>
                  </a:lnTo>
                  <a:cubicBezTo>
                    <a:pt x="2778420" y="0"/>
                    <a:pt x="2819400" y="40980"/>
                    <a:pt x="2819400" y="91532"/>
                  </a:cubicBezTo>
                  <a:lnTo>
                    <a:pt x="2819400" y="1508668"/>
                  </a:lnTo>
                  <a:cubicBezTo>
                    <a:pt x="2819400" y="1559220"/>
                    <a:pt x="2778420" y="1600200"/>
                    <a:pt x="2727868" y="1600200"/>
                  </a:cubicBezTo>
                  <a:lnTo>
                    <a:pt x="91532" y="1600200"/>
                  </a:lnTo>
                  <a:cubicBezTo>
                    <a:pt x="40980" y="1600200"/>
                    <a:pt x="0" y="1559220"/>
                    <a:pt x="0" y="1508668"/>
                  </a:cubicBezTo>
                  <a:lnTo>
                    <a:pt x="0" y="91532"/>
                  </a:lnTo>
                  <a:cubicBezTo>
                    <a:pt x="0" y="40980"/>
                    <a:pt x="40980" y="0"/>
                    <a:pt x="9153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2819400" cy="1590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CRANE</a:t>
              </a:r>
            </a:p>
            <a:p>
              <a:pPr algn="ctr"/>
              <a:r>
                <a:rPr lang="en-US" sz="20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SHORTAGE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>
            <a:off x="8782050" y="4105275"/>
            <a:ext cx="495300" cy="0"/>
          </a:xfrm>
          <a:prstGeom prst="line">
            <a:avLst/>
          </a:prstGeom>
          <a:ln w="28575" cap="rnd">
            <a:solidFill>
              <a:srgbClr val="00A7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0" name="Group 20"/>
          <p:cNvGrpSpPr/>
          <p:nvPr/>
        </p:nvGrpSpPr>
        <p:grpSpPr>
          <a:xfrm>
            <a:off x="9410700" y="3505200"/>
            <a:ext cx="2114550" cy="1200150"/>
            <a:chOff x="0" y="0"/>
            <a:chExt cx="2819400" cy="16002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819400" cy="1600200"/>
            </a:xfrm>
            <a:custGeom>
              <a:avLst/>
              <a:gdLst/>
              <a:ahLst/>
              <a:cxnLst/>
              <a:rect l="l" t="t" r="r" b="b"/>
              <a:pathLst>
                <a:path w="2819400" h="1600200">
                  <a:moveTo>
                    <a:pt x="91532" y="0"/>
                  </a:moveTo>
                  <a:lnTo>
                    <a:pt x="2727868" y="0"/>
                  </a:lnTo>
                  <a:cubicBezTo>
                    <a:pt x="2778420" y="0"/>
                    <a:pt x="2819400" y="40980"/>
                    <a:pt x="2819400" y="91532"/>
                  </a:cubicBezTo>
                  <a:lnTo>
                    <a:pt x="2819400" y="1508668"/>
                  </a:lnTo>
                  <a:cubicBezTo>
                    <a:pt x="2819400" y="1559220"/>
                    <a:pt x="2778420" y="1600200"/>
                    <a:pt x="2727868" y="1600200"/>
                  </a:cubicBezTo>
                  <a:lnTo>
                    <a:pt x="91532" y="1600200"/>
                  </a:lnTo>
                  <a:cubicBezTo>
                    <a:pt x="40980" y="1600200"/>
                    <a:pt x="0" y="1559220"/>
                    <a:pt x="0" y="1508668"/>
                  </a:cubicBezTo>
                  <a:lnTo>
                    <a:pt x="0" y="91532"/>
                  </a:lnTo>
                  <a:cubicBezTo>
                    <a:pt x="0" y="40980"/>
                    <a:pt x="40980" y="0"/>
                    <a:pt x="9153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9525"/>
              <a:ext cx="2819400" cy="1590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YARD</a:t>
              </a:r>
            </a:p>
            <a:p>
              <a:pPr algn="ctr"/>
              <a:r>
                <a:rPr lang="en-US" sz="20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PRESSURE</a:t>
              </a:r>
            </a:p>
          </p:txBody>
        </p:sp>
      </p:grpSp>
      <p:sp>
        <p:nvSpPr>
          <p:cNvPr id="23" name="AutoShape 23"/>
          <p:cNvSpPr/>
          <p:nvPr/>
        </p:nvSpPr>
        <p:spPr>
          <a:xfrm>
            <a:off x="11563350" y="4105275"/>
            <a:ext cx="495300" cy="0"/>
          </a:xfrm>
          <a:prstGeom prst="line">
            <a:avLst/>
          </a:prstGeom>
          <a:ln w="28575" cap="rnd">
            <a:solidFill>
              <a:srgbClr val="EF83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4" name="Group 24"/>
          <p:cNvGrpSpPr/>
          <p:nvPr/>
        </p:nvGrpSpPr>
        <p:grpSpPr>
          <a:xfrm>
            <a:off x="12192000" y="3505200"/>
            <a:ext cx="2114550" cy="1200150"/>
            <a:chOff x="0" y="0"/>
            <a:chExt cx="2819400" cy="1600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819400" cy="1600200"/>
            </a:xfrm>
            <a:custGeom>
              <a:avLst/>
              <a:gdLst/>
              <a:ahLst/>
              <a:cxnLst/>
              <a:rect l="l" t="t" r="r" b="b"/>
              <a:pathLst>
                <a:path w="2819400" h="1600200">
                  <a:moveTo>
                    <a:pt x="91532" y="0"/>
                  </a:moveTo>
                  <a:lnTo>
                    <a:pt x="2727868" y="0"/>
                  </a:lnTo>
                  <a:cubicBezTo>
                    <a:pt x="2778420" y="0"/>
                    <a:pt x="2819400" y="40980"/>
                    <a:pt x="2819400" y="91532"/>
                  </a:cubicBezTo>
                  <a:lnTo>
                    <a:pt x="2819400" y="1508668"/>
                  </a:lnTo>
                  <a:cubicBezTo>
                    <a:pt x="2819400" y="1559220"/>
                    <a:pt x="2778420" y="1600200"/>
                    <a:pt x="2727868" y="1600200"/>
                  </a:cubicBezTo>
                  <a:lnTo>
                    <a:pt x="91532" y="1600200"/>
                  </a:lnTo>
                  <a:cubicBezTo>
                    <a:pt x="40980" y="1600200"/>
                    <a:pt x="0" y="1559220"/>
                    <a:pt x="0" y="1508668"/>
                  </a:cubicBezTo>
                  <a:lnTo>
                    <a:pt x="0" y="91532"/>
                  </a:lnTo>
                  <a:cubicBezTo>
                    <a:pt x="0" y="40980"/>
                    <a:pt x="40980" y="0"/>
                    <a:pt x="9153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9525"/>
              <a:ext cx="2819400" cy="1590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WAITING</a:t>
              </a:r>
            </a:p>
            <a:p>
              <a:pPr algn="ctr"/>
              <a:r>
                <a:rPr lang="en-US" sz="20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TIME</a:t>
              </a:r>
            </a:p>
          </p:txBody>
        </p:sp>
      </p:grpSp>
      <p:sp>
        <p:nvSpPr>
          <p:cNvPr id="27" name="AutoShape 27"/>
          <p:cNvSpPr/>
          <p:nvPr/>
        </p:nvSpPr>
        <p:spPr>
          <a:xfrm>
            <a:off x="14344650" y="4105275"/>
            <a:ext cx="495300" cy="0"/>
          </a:xfrm>
          <a:prstGeom prst="line">
            <a:avLst/>
          </a:prstGeom>
          <a:ln w="28575" cap="rnd">
            <a:solidFill>
              <a:srgbClr val="EF83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8" name="Group 28"/>
          <p:cNvGrpSpPr/>
          <p:nvPr/>
        </p:nvGrpSpPr>
        <p:grpSpPr>
          <a:xfrm>
            <a:off x="14973300" y="3505200"/>
            <a:ext cx="2114550" cy="1200150"/>
            <a:chOff x="0" y="0"/>
            <a:chExt cx="2819400" cy="16002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819400" cy="1600200"/>
            </a:xfrm>
            <a:custGeom>
              <a:avLst/>
              <a:gdLst/>
              <a:ahLst/>
              <a:cxnLst/>
              <a:rect l="l" t="t" r="r" b="b"/>
              <a:pathLst>
                <a:path w="2819400" h="1600200">
                  <a:moveTo>
                    <a:pt x="91532" y="0"/>
                  </a:moveTo>
                  <a:lnTo>
                    <a:pt x="2727868" y="0"/>
                  </a:lnTo>
                  <a:cubicBezTo>
                    <a:pt x="2778420" y="0"/>
                    <a:pt x="2819400" y="40980"/>
                    <a:pt x="2819400" y="91532"/>
                  </a:cubicBezTo>
                  <a:lnTo>
                    <a:pt x="2819400" y="1508668"/>
                  </a:lnTo>
                  <a:cubicBezTo>
                    <a:pt x="2819400" y="1559220"/>
                    <a:pt x="2778420" y="1600200"/>
                    <a:pt x="2727868" y="1600200"/>
                  </a:cubicBezTo>
                  <a:lnTo>
                    <a:pt x="91532" y="1600200"/>
                  </a:lnTo>
                  <a:cubicBezTo>
                    <a:pt x="40980" y="1600200"/>
                    <a:pt x="0" y="1559220"/>
                    <a:pt x="0" y="1508668"/>
                  </a:cubicBezTo>
                  <a:lnTo>
                    <a:pt x="0" y="91532"/>
                  </a:lnTo>
                  <a:cubicBezTo>
                    <a:pt x="0" y="40980"/>
                    <a:pt x="40980" y="0"/>
                    <a:pt x="91532" y="0"/>
                  </a:cubicBezTo>
                  <a:close/>
                </a:path>
              </a:pathLst>
            </a:custGeom>
            <a:solidFill>
              <a:srgbClr val="071B3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9525"/>
              <a:ext cx="2819400" cy="1590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PORT</a:t>
              </a:r>
            </a:p>
            <a:p>
              <a:pPr algn="ctr"/>
              <a:r>
                <a:rPr lang="en-US" sz="20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DISRUPTION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809750" y="5353050"/>
            <a:ext cx="14668500" cy="984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3200">
                <a:solidFill>
                  <a:srgbClr val="597084"/>
                </a:solidFill>
                <a:latin typeface="DM Sans"/>
                <a:ea typeface="DM Sans"/>
                <a:cs typeface="DM Sans"/>
                <a:sym typeface="DM Sans"/>
              </a:rPr>
              <a:t>Uncertain arrivals  •  limited berth capacity  •  variable crane availability  •  yard congestion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381250" y="6638925"/>
            <a:ext cx="13525500" cy="1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4800" b="1" dirty="0">
                <a:solidFill>
                  <a:srgbClr val="10293F"/>
                </a:solidFill>
                <a:latin typeface="DM Sans Bold"/>
                <a:ea typeface="DM Sans Bold"/>
                <a:cs typeface="DM Sans Bold"/>
                <a:sym typeface="DM Sans Bold"/>
              </a:rPr>
              <a:t>The real problem is not detecting congestion.</a:t>
            </a:r>
          </a:p>
          <a:p>
            <a:pPr algn="ctr"/>
            <a:r>
              <a:rPr lang="en-US" sz="4800" b="1" dirty="0">
                <a:solidFill>
                  <a:srgbClr val="10293F"/>
                </a:solidFill>
                <a:latin typeface="DM Sans Bold"/>
                <a:ea typeface="DM Sans Bold"/>
                <a:cs typeface="DM Sans Bold"/>
                <a:sym typeface="DM Sans Bold"/>
              </a:rPr>
              <a:t>It is preventing it before it spreads.</a:t>
            </a:r>
          </a:p>
        </p:txBody>
      </p:sp>
      <p:sp>
        <p:nvSpPr>
          <p:cNvPr id="35" name="TextBox 22">
            <a:extLst>
              <a:ext uri="{FF2B5EF4-FFF2-40B4-BE49-F238E27FC236}">
                <a16:creationId xmlns:a16="http://schemas.microsoft.com/office/drawing/2014/main" id="{42B985D4-B410-2894-564D-FCFCE61BFBDA}"/>
              </a:ext>
            </a:extLst>
          </p:cNvPr>
          <p:cNvSpPr txBox="1"/>
          <p:nvPr/>
        </p:nvSpPr>
        <p:spPr>
          <a:xfrm>
            <a:off x="990600" y="9667875"/>
            <a:ext cx="4762500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b="1" spc="144" dirty="0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PortsPilot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0600" y="590550"/>
            <a:ext cx="11430000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b="1" spc="162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THE SOLUTION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90600" y="1076325"/>
            <a:ext cx="14287500" cy="830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5400" b="1">
                <a:solidFill>
                  <a:srgbClr val="10293F"/>
                </a:solidFill>
                <a:latin typeface="DM Sans Bold"/>
                <a:ea typeface="DM Sans Bold"/>
                <a:cs typeface="DM Sans Bold"/>
                <a:sym typeface="DM Sans Bold"/>
              </a:rPr>
              <a:t>From monitoring to decision-making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649700" y="438150"/>
            <a:ext cx="647700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lang="en-US" sz="2400">
                <a:solidFill>
                  <a:srgbClr val="597084"/>
                </a:solidFill>
                <a:latin typeface="DM Sans"/>
                <a:ea typeface="DM Sans"/>
                <a:cs typeface="DM Sans"/>
                <a:sym typeface="DM Sans"/>
              </a:rPr>
              <a:t>03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00125" y="3095625"/>
            <a:ext cx="2324100" cy="1066800"/>
            <a:chOff x="0" y="0"/>
            <a:chExt cx="3098800" cy="1422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098800" cy="1422400"/>
            </a:xfrm>
            <a:custGeom>
              <a:avLst/>
              <a:gdLst/>
              <a:ahLst/>
              <a:cxnLst/>
              <a:rect l="l" t="t" r="r" b="b"/>
              <a:pathLst>
                <a:path w="3098800" h="1422400">
                  <a:moveTo>
                    <a:pt x="83279" y="0"/>
                  </a:moveTo>
                  <a:lnTo>
                    <a:pt x="3015521" y="0"/>
                  </a:lnTo>
                  <a:cubicBezTo>
                    <a:pt x="3061515" y="0"/>
                    <a:pt x="3098800" y="37285"/>
                    <a:pt x="3098800" y="83279"/>
                  </a:cubicBezTo>
                  <a:lnTo>
                    <a:pt x="3098800" y="1339121"/>
                  </a:lnTo>
                  <a:cubicBezTo>
                    <a:pt x="3098800" y="1385115"/>
                    <a:pt x="3061515" y="1422400"/>
                    <a:pt x="3015521" y="1422400"/>
                  </a:cubicBezTo>
                  <a:lnTo>
                    <a:pt x="83279" y="1422400"/>
                  </a:lnTo>
                  <a:cubicBezTo>
                    <a:pt x="37285" y="1422400"/>
                    <a:pt x="0" y="1385115"/>
                    <a:pt x="0" y="1339121"/>
                  </a:cubicBezTo>
                  <a:lnTo>
                    <a:pt x="0" y="83279"/>
                  </a:lnTo>
                  <a:cubicBezTo>
                    <a:pt x="0" y="37285"/>
                    <a:pt x="37285" y="0"/>
                    <a:pt x="83279" y="0"/>
                  </a:cubicBezTo>
                  <a:close/>
                </a:path>
              </a:pathLst>
            </a:custGeom>
            <a:solidFill>
              <a:srgbClr val="071B3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8575"/>
              <a:ext cx="3098800" cy="1393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4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PREDICT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3343275" y="3629025"/>
            <a:ext cx="381000" cy="0"/>
          </a:xfrm>
          <a:prstGeom prst="line">
            <a:avLst/>
          </a:prstGeom>
          <a:ln w="28575" cap="rnd">
            <a:solidFill>
              <a:srgbClr val="00A7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12" name="Group 12"/>
          <p:cNvGrpSpPr/>
          <p:nvPr/>
        </p:nvGrpSpPr>
        <p:grpSpPr>
          <a:xfrm>
            <a:off x="3800475" y="3095625"/>
            <a:ext cx="2324100" cy="1066800"/>
            <a:chOff x="0" y="0"/>
            <a:chExt cx="3098800" cy="1422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098800" cy="1422400"/>
            </a:xfrm>
            <a:custGeom>
              <a:avLst/>
              <a:gdLst/>
              <a:ahLst/>
              <a:cxnLst/>
              <a:rect l="l" t="t" r="r" b="b"/>
              <a:pathLst>
                <a:path w="3098800" h="1422400">
                  <a:moveTo>
                    <a:pt x="83279" y="0"/>
                  </a:moveTo>
                  <a:lnTo>
                    <a:pt x="3015521" y="0"/>
                  </a:lnTo>
                  <a:cubicBezTo>
                    <a:pt x="3061515" y="0"/>
                    <a:pt x="3098800" y="37285"/>
                    <a:pt x="3098800" y="83279"/>
                  </a:cubicBezTo>
                  <a:lnTo>
                    <a:pt x="3098800" y="1339121"/>
                  </a:lnTo>
                  <a:cubicBezTo>
                    <a:pt x="3098800" y="1385115"/>
                    <a:pt x="3061515" y="1422400"/>
                    <a:pt x="3015521" y="1422400"/>
                  </a:cubicBezTo>
                  <a:lnTo>
                    <a:pt x="83279" y="1422400"/>
                  </a:lnTo>
                  <a:cubicBezTo>
                    <a:pt x="37285" y="1422400"/>
                    <a:pt x="0" y="1385115"/>
                    <a:pt x="0" y="1339121"/>
                  </a:cubicBezTo>
                  <a:lnTo>
                    <a:pt x="0" y="83279"/>
                  </a:lnTo>
                  <a:cubicBezTo>
                    <a:pt x="0" y="37285"/>
                    <a:pt x="37285" y="0"/>
                    <a:pt x="83279" y="0"/>
                  </a:cubicBezTo>
                  <a:close/>
                </a:path>
              </a:pathLst>
            </a:custGeom>
            <a:solidFill>
              <a:srgbClr val="E7F1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28575"/>
              <a:ext cx="3098800" cy="1393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4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EXPLAIN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6143625" y="3629025"/>
            <a:ext cx="381000" cy="0"/>
          </a:xfrm>
          <a:prstGeom prst="line">
            <a:avLst/>
          </a:prstGeom>
          <a:ln w="28575" cap="rnd">
            <a:solidFill>
              <a:srgbClr val="00A7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16" name="Group 16"/>
          <p:cNvGrpSpPr/>
          <p:nvPr/>
        </p:nvGrpSpPr>
        <p:grpSpPr>
          <a:xfrm>
            <a:off x="6600825" y="3095625"/>
            <a:ext cx="2324100" cy="1066800"/>
            <a:chOff x="0" y="0"/>
            <a:chExt cx="3098800" cy="14224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098800" cy="1422400"/>
            </a:xfrm>
            <a:custGeom>
              <a:avLst/>
              <a:gdLst/>
              <a:ahLst/>
              <a:cxnLst/>
              <a:rect l="l" t="t" r="r" b="b"/>
              <a:pathLst>
                <a:path w="3098800" h="1422400">
                  <a:moveTo>
                    <a:pt x="83279" y="0"/>
                  </a:moveTo>
                  <a:lnTo>
                    <a:pt x="3015521" y="0"/>
                  </a:lnTo>
                  <a:cubicBezTo>
                    <a:pt x="3061515" y="0"/>
                    <a:pt x="3098800" y="37285"/>
                    <a:pt x="3098800" y="83279"/>
                  </a:cubicBezTo>
                  <a:lnTo>
                    <a:pt x="3098800" y="1339121"/>
                  </a:lnTo>
                  <a:cubicBezTo>
                    <a:pt x="3098800" y="1385115"/>
                    <a:pt x="3061515" y="1422400"/>
                    <a:pt x="3015521" y="1422400"/>
                  </a:cubicBezTo>
                  <a:lnTo>
                    <a:pt x="83279" y="1422400"/>
                  </a:lnTo>
                  <a:cubicBezTo>
                    <a:pt x="37285" y="1422400"/>
                    <a:pt x="0" y="1385115"/>
                    <a:pt x="0" y="1339121"/>
                  </a:cubicBezTo>
                  <a:lnTo>
                    <a:pt x="0" y="83279"/>
                  </a:lnTo>
                  <a:cubicBezTo>
                    <a:pt x="0" y="37285"/>
                    <a:pt x="37285" y="0"/>
                    <a:pt x="83279" y="0"/>
                  </a:cubicBezTo>
                  <a:close/>
                </a:path>
              </a:pathLst>
            </a:custGeom>
            <a:solidFill>
              <a:srgbClr val="E7F1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28575"/>
              <a:ext cx="3098800" cy="1393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4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OPTIMISE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>
            <a:off x="8943975" y="3629025"/>
            <a:ext cx="381000" cy="0"/>
          </a:xfrm>
          <a:prstGeom prst="line">
            <a:avLst/>
          </a:prstGeom>
          <a:ln w="28575" cap="rnd">
            <a:solidFill>
              <a:srgbClr val="00A7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0" name="Group 20"/>
          <p:cNvGrpSpPr/>
          <p:nvPr/>
        </p:nvGrpSpPr>
        <p:grpSpPr>
          <a:xfrm>
            <a:off x="9401175" y="3095625"/>
            <a:ext cx="2324100" cy="1066800"/>
            <a:chOff x="0" y="0"/>
            <a:chExt cx="3098800" cy="1422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098800" cy="1422400"/>
            </a:xfrm>
            <a:custGeom>
              <a:avLst/>
              <a:gdLst/>
              <a:ahLst/>
              <a:cxnLst/>
              <a:rect l="l" t="t" r="r" b="b"/>
              <a:pathLst>
                <a:path w="3098800" h="1422400">
                  <a:moveTo>
                    <a:pt x="83279" y="0"/>
                  </a:moveTo>
                  <a:lnTo>
                    <a:pt x="3015521" y="0"/>
                  </a:lnTo>
                  <a:cubicBezTo>
                    <a:pt x="3061515" y="0"/>
                    <a:pt x="3098800" y="37285"/>
                    <a:pt x="3098800" y="83279"/>
                  </a:cubicBezTo>
                  <a:lnTo>
                    <a:pt x="3098800" y="1339121"/>
                  </a:lnTo>
                  <a:cubicBezTo>
                    <a:pt x="3098800" y="1385115"/>
                    <a:pt x="3061515" y="1422400"/>
                    <a:pt x="3015521" y="1422400"/>
                  </a:cubicBezTo>
                  <a:lnTo>
                    <a:pt x="83279" y="1422400"/>
                  </a:lnTo>
                  <a:cubicBezTo>
                    <a:pt x="37285" y="1422400"/>
                    <a:pt x="0" y="1385115"/>
                    <a:pt x="0" y="1339121"/>
                  </a:cubicBezTo>
                  <a:lnTo>
                    <a:pt x="0" y="83279"/>
                  </a:lnTo>
                  <a:cubicBezTo>
                    <a:pt x="0" y="37285"/>
                    <a:pt x="37285" y="0"/>
                    <a:pt x="83279" y="0"/>
                  </a:cubicBezTo>
                  <a:close/>
                </a:path>
              </a:pathLst>
            </a:custGeom>
            <a:solidFill>
              <a:srgbClr val="E7F1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28575"/>
              <a:ext cx="3098800" cy="1393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4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SIMULATE</a:t>
              </a:r>
            </a:p>
          </p:txBody>
        </p:sp>
      </p:grpSp>
      <p:sp>
        <p:nvSpPr>
          <p:cNvPr id="23" name="AutoShape 23"/>
          <p:cNvSpPr/>
          <p:nvPr/>
        </p:nvSpPr>
        <p:spPr>
          <a:xfrm>
            <a:off x="11744325" y="3629025"/>
            <a:ext cx="381000" cy="0"/>
          </a:xfrm>
          <a:prstGeom prst="line">
            <a:avLst/>
          </a:prstGeom>
          <a:ln w="28575" cap="rnd">
            <a:solidFill>
              <a:srgbClr val="00A7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4" name="Group 24"/>
          <p:cNvGrpSpPr/>
          <p:nvPr/>
        </p:nvGrpSpPr>
        <p:grpSpPr>
          <a:xfrm>
            <a:off x="12201525" y="3095625"/>
            <a:ext cx="2324100" cy="1066800"/>
            <a:chOff x="0" y="0"/>
            <a:chExt cx="3098800" cy="1422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098800" cy="1422400"/>
            </a:xfrm>
            <a:custGeom>
              <a:avLst/>
              <a:gdLst/>
              <a:ahLst/>
              <a:cxnLst/>
              <a:rect l="l" t="t" r="r" b="b"/>
              <a:pathLst>
                <a:path w="3098800" h="1422400">
                  <a:moveTo>
                    <a:pt x="83279" y="0"/>
                  </a:moveTo>
                  <a:lnTo>
                    <a:pt x="3015521" y="0"/>
                  </a:lnTo>
                  <a:cubicBezTo>
                    <a:pt x="3061515" y="0"/>
                    <a:pt x="3098800" y="37285"/>
                    <a:pt x="3098800" y="83279"/>
                  </a:cubicBezTo>
                  <a:lnTo>
                    <a:pt x="3098800" y="1339121"/>
                  </a:lnTo>
                  <a:cubicBezTo>
                    <a:pt x="3098800" y="1385115"/>
                    <a:pt x="3061515" y="1422400"/>
                    <a:pt x="3015521" y="1422400"/>
                  </a:cubicBezTo>
                  <a:lnTo>
                    <a:pt x="83279" y="1422400"/>
                  </a:lnTo>
                  <a:cubicBezTo>
                    <a:pt x="37285" y="1422400"/>
                    <a:pt x="0" y="1385115"/>
                    <a:pt x="0" y="1339121"/>
                  </a:cubicBezTo>
                  <a:lnTo>
                    <a:pt x="0" y="83279"/>
                  </a:lnTo>
                  <a:cubicBezTo>
                    <a:pt x="0" y="37285"/>
                    <a:pt x="37285" y="0"/>
                    <a:pt x="83279" y="0"/>
                  </a:cubicBezTo>
                  <a:close/>
                </a:path>
              </a:pathLst>
            </a:custGeom>
            <a:solidFill>
              <a:srgbClr val="E7F1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28575"/>
              <a:ext cx="3098800" cy="1393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4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PLAN</a:t>
              </a:r>
            </a:p>
          </p:txBody>
        </p:sp>
      </p:grpSp>
      <p:sp>
        <p:nvSpPr>
          <p:cNvPr id="27" name="AutoShape 27"/>
          <p:cNvSpPr/>
          <p:nvPr/>
        </p:nvSpPr>
        <p:spPr>
          <a:xfrm>
            <a:off x="14544675" y="3629025"/>
            <a:ext cx="381000" cy="0"/>
          </a:xfrm>
          <a:prstGeom prst="line">
            <a:avLst/>
          </a:prstGeom>
          <a:ln w="28575" cap="rnd">
            <a:solidFill>
              <a:srgbClr val="00A7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8" name="Group 28"/>
          <p:cNvGrpSpPr/>
          <p:nvPr/>
        </p:nvGrpSpPr>
        <p:grpSpPr>
          <a:xfrm>
            <a:off x="15001875" y="3095625"/>
            <a:ext cx="2324100" cy="1066800"/>
            <a:chOff x="0" y="0"/>
            <a:chExt cx="3098800" cy="1422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098800" cy="1422400"/>
            </a:xfrm>
            <a:custGeom>
              <a:avLst/>
              <a:gdLst/>
              <a:ahLst/>
              <a:cxnLst/>
              <a:rect l="l" t="t" r="r" b="b"/>
              <a:pathLst>
                <a:path w="3098800" h="1422400">
                  <a:moveTo>
                    <a:pt x="83279" y="0"/>
                  </a:moveTo>
                  <a:lnTo>
                    <a:pt x="3015521" y="0"/>
                  </a:lnTo>
                  <a:cubicBezTo>
                    <a:pt x="3061515" y="0"/>
                    <a:pt x="3098800" y="37285"/>
                    <a:pt x="3098800" y="83279"/>
                  </a:cubicBezTo>
                  <a:lnTo>
                    <a:pt x="3098800" y="1339121"/>
                  </a:lnTo>
                  <a:cubicBezTo>
                    <a:pt x="3098800" y="1385115"/>
                    <a:pt x="3061515" y="1422400"/>
                    <a:pt x="3015521" y="1422400"/>
                  </a:cubicBezTo>
                  <a:lnTo>
                    <a:pt x="83279" y="1422400"/>
                  </a:lnTo>
                  <a:cubicBezTo>
                    <a:pt x="37285" y="1422400"/>
                    <a:pt x="0" y="1385115"/>
                    <a:pt x="0" y="1339121"/>
                  </a:cubicBezTo>
                  <a:lnTo>
                    <a:pt x="0" y="83279"/>
                  </a:lnTo>
                  <a:cubicBezTo>
                    <a:pt x="0" y="37285"/>
                    <a:pt x="37285" y="0"/>
                    <a:pt x="83279" y="0"/>
                  </a:cubicBezTo>
                  <a:close/>
                </a:path>
              </a:pathLst>
            </a:custGeom>
            <a:solidFill>
              <a:srgbClr val="071B3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28575"/>
              <a:ext cx="3098800" cy="1393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4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ACT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38200" y="5067300"/>
            <a:ext cx="3905250" cy="1695450"/>
            <a:chOff x="-152400" y="-38100"/>
            <a:chExt cx="5207000" cy="2260600"/>
          </a:xfrm>
        </p:grpSpPr>
        <p:grpSp>
          <p:nvGrpSpPr>
            <p:cNvPr id="32" name="Group 32"/>
            <p:cNvGrpSpPr/>
            <p:nvPr/>
          </p:nvGrpSpPr>
          <p:grpSpPr>
            <a:xfrm>
              <a:off x="0" y="0"/>
              <a:ext cx="4953000" cy="2222500"/>
              <a:chOff x="0" y="0"/>
              <a:chExt cx="4953000" cy="22225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4953000" cy="22225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22225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2222500"/>
                    </a:lnTo>
                    <a:lnTo>
                      <a:pt x="0" y="2222500"/>
                    </a:lnTo>
                    <a:close/>
                  </a:path>
                </a:pathLst>
              </a:custGeom>
              <a:solidFill>
                <a:srgbClr val="F4F8F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0" y="-38100"/>
                <a:ext cx="4953000" cy="2260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/>
                <a:endParaRPr sz="2800"/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-152400" y="-38100"/>
              <a:ext cx="5207000" cy="19697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Forecast congestion</a:t>
              </a:r>
            </a:p>
            <a:p>
              <a:pPr algn="ctr"/>
              <a:r>
                <a:rPr lang="en-US" sz="3200" b="1" dirty="0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and expose causes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048250" y="5095875"/>
            <a:ext cx="3714750" cy="1666875"/>
            <a:chOff x="0" y="0"/>
            <a:chExt cx="4953000" cy="2222500"/>
          </a:xfrm>
        </p:grpSpPr>
        <p:grpSp>
          <p:nvGrpSpPr>
            <p:cNvPr id="37" name="Group 37"/>
            <p:cNvGrpSpPr/>
            <p:nvPr/>
          </p:nvGrpSpPr>
          <p:grpSpPr>
            <a:xfrm>
              <a:off x="0" y="0"/>
              <a:ext cx="4953000" cy="2222500"/>
              <a:chOff x="0" y="0"/>
              <a:chExt cx="4953000" cy="22225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4953000" cy="22225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22225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2222500"/>
                    </a:lnTo>
                    <a:lnTo>
                      <a:pt x="0" y="2222500"/>
                    </a:lnTo>
                    <a:close/>
                  </a:path>
                </a:pathLst>
              </a:custGeom>
              <a:solidFill>
                <a:srgbClr val="E7F1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38100"/>
                <a:ext cx="4953000" cy="2260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/>
                <a:endParaRPr sz="2800"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254000" y="473075"/>
              <a:ext cx="4445000" cy="13131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32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Improve berth &amp;</a:t>
              </a:r>
            </a:p>
            <a:p>
              <a:pPr algn="ctr"/>
              <a:r>
                <a:rPr lang="en-US" sz="32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crane allocation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144000" y="5095875"/>
            <a:ext cx="3714750" cy="1666876"/>
            <a:chOff x="0" y="0"/>
            <a:chExt cx="4953000" cy="2222500"/>
          </a:xfrm>
        </p:grpSpPr>
        <p:grpSp>
          <p:nvGrpSpPr>
            <p:cNvPr id="42" name="Group 42"/>
            <p:cNvGrpSpPr/>
            <p:nvPr/>
          </p:nvGrpSpPr>
          <p:grpSpPr>
            <a:xfrm>
              <a:off x="0" y="0"/>
              <a:ext cx="4953000" cy="2222500"/>
              <a:chOff x="0" y="0"/>
              <a:chExt cx="4953000" cy="22225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4953000" cy="22225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22225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2222500"/>
                    </a:lnTo>
                    <a:lnTo>
                      <a:pt x="0" y="2222500"/>
                    </a:lnTo>
                    <a:close/>
                  </a:path>
                </a:pathLst>
              </a:custGeom>
              <a:solidFill>
                <a:srgbClr val="F4F8FB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0" y="-38100"/>
                <a:ext cx="4953000" cy="2260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/>
                <a:endParaRPr sz="2800"/>
              </a:p>
            </p:txBody>
          </p:sp>
        </p:grpSp>
        <p:sp>
          <p:nvSpPr>
            <p:cNvPr id="45" name="TextBox 45"/>
            <p:cNvSpPr txBox="1"/>
            <p:nvPr/>
          </p:nvSpPr>
          <p:spPr>
            <a:xfrm>
              <a:off x="254000" y="125728"/>
              <a:ext cx="4445000" cy="19697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Stress-test failures</a:t>
              </a:r>
            </a:p>
            <a:p>
              <a:pPr algn="ctr"/>
              <a:r>
                <a:rPr lang="en-US" sz="3200" b="1" dirty="0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and recovery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3239750" y="5095875"/>
            <a:ext cx="3714750" cy="1666876"/>
            <a:chOff x="0" y="0"/>
            <a:chExt cx="4953000" cy="2222500"/>
          </a:xfrm>
        </p:grpSpPr>
        <p:grpSp>
          <p:nvGrpSpPr>
            <p:cNvPr id="47" name="Group 47"/>
            <p:cNvGrpSpPr/>
            <p:nvPr/>
          </p:nvGrpSpPr>
          <p:grpSpPr>
            <a:xfrm>
              <a:off x="0" y="0"/>
              <a:ext cx="4953000" cy="2222500"/>
              <a:chOff x="0" y="0"/>
              <a:chExt cx="4953000" cy="22225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4953000" cy="22225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22225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2222500"/>
                    </a:lnTo>
                    <a:lnTo>
                      <a:pt x="0" y="2222500"/>
                    </a:lnTo>
                    <a:close/>
                  </a:path>
                </a:pathLst>
              </a:custGeom>
              <a:solidFill>
                <a:srgbClr val="E7F1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0" y="-38100"/>
                <a:ext cx="4953000" cy="2260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/>
                <a:endParaRPr sz="2800"/>
              </a:p>
            </p:txBody>
          </p:sp>
        </p:grpSp>
        <p:sp>
          <p:nvSpPr>
            <p:cNvPr id="50" name="TextBox 50"/>
            <p:cNvSpPr txBox="1"/>
            <p:nvPr/>
          </p:nvSpPr>
          <p:spPr>
            <a:xfrm>
              <a:off x="254000" y="165100"/>
              <a:ext cx="4445000" cy="19697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Generate an actionable</a:t>
              </a:r>
            </a:p>
            <a:p>
              <a:pPr algn="ctr"/>
              <a:r>
                <a:rPr lang="en-US" sz="3200" b="1" dirty="0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72-hour plan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2762250" y="7915275"/>
            <a:ext cx="12763500" cy="86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2800" b="1" spc="215" dirty="0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ADVISORY INTELLIGENCE  —  HUMAN OPERATORS REMAIN IN CONTROL</a:t>
            </a:r>
          </a:p>
        </p:txBody>
      </p:sp>
      <p:sp>
        <p:nvSpPr>
          <p:cNvPr id="54" name="TextBox 22">
            <a:extLst>
              <a:ext uri="{FF2B5EF4-FFF2-40B4-BE49-F238E27FC236}">
                <a16:creationId xmlns:a16="http://schemas.microsoft.com/office/drawing/2014/main" id="{4AF89DC9-E1E1-A841-4983-C2D0EA622DAF}"/>
              </a:ext>
            </a:extLst>
          </p:cNvPr>
          <p:cNvSpPr txBox="1"/>
          <p:nvPr/>
        </p:nvSpPr>
        <p:spPr>
          <a:xfrm>
            <a:off x="990600" y="9667875"/>
            <a:ext cx="4762500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b="1" spc="144" dirty="0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PortsPilot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0600" y="590550"/>
            <a:ext cx="11430000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b="1" spc="162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PLATFORM ARCHITECTURE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90600" y="1076325"/>
            <a:ext cx="14287500" cy="830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5400" b="1">
                <a:solidFill>
                  <a:srgbClr val="10293F"/>
                </a:solidFill>
                <a:latin typeface="DM Sans Bold"/>
                <a:ea typeface="DM Sans Bold"/>
                <a:cs typeface="DM Sans Bold"/>
                <a:sym typeface="DM Sans Bold"/>
              </a:rPr>
              <a:t>Inside the Port Digital Twin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649700" y="438150"/>
            <a:ext cx="647700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lang="en-US" sz="2400">
                <a:solidFill>
                  <a:srgbClr val="597084"/>
                </a:solidFill>
                <a:latin typeface="DM Sans"/>
                <a:ea typeface="DM Sans"/>
                <a:cs typeface="DM Sans"/>
                <a:sym typeface="DM Sans"/>
              </a:rPr>
              <a:t>04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90625" y="2714625"/>
            <a:ext cx="15859125" cy="781050"/>
            <a:chOff x="0" y="0"/>
            <a:chExt cx="21145500" cy="10414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4699000" cy="1041400"/>
              <a:chOff x="0" y="0"/>
              <a:chExt cx="4699000" cy="10414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699000" cy="1041400"/>
              </a:xfrm>
              <a:custGeom>
                <a:avLst/>
                <a:gdLst/>
                <a:ahLst/>
                <a:cxnLst/>
                <a:rect l="l" t="t" r="r" b="b"/>
                <a:pathLst>
                  <a:path w="4699000" h="1041400">
                    <a:moveTo>
                      <a:pt x="54919" y="0"/>
                    </a:moveTo>
                    <a:lnTo>
                      <a:pt x="4644081" y="0"/>
                    </a:lnTo>
                    <a:cubicBezTo>
                      <a:pt x="4658647" y="0"/>
                      <a:pt x="4672615" y="5786"/>
                      <a:pt x="4682915" y="16085"/>
                    </a:cubicBezTo>
                    <a:cubicBezTo>
                      <a:pt x="4693214" y="26385"/>
                      <a:pt x="4699000" y="40354"/>
                      <a:pt x="4699000" y="54919"/>
                    </a:cubicBezTo>
                    <a:lnTo>
                      <a:pt x="4699000" y="986481"/>
                    </a:lnTo>
                    <a:cubicBezTo>
                      <a:pt x="4699000" y="1001046"/>
                      <a:pt x="4693214" y="1015015"/>
                      <a:pt x="4682915" y="1025315"/>
                    </a:cubicBezTo>
                    <a:cubicBezTo>
                      <a:pt x="4672615" y="1035614"/>
                      <a:pt x="4658647" y="1041400"/>
                      <a:pt x="4644081" y="1041400"/>
                    </a:cubicBezTo>
                    <a:lnTo>
                      <a:pt x="54919" y="1041400"/>
                    </a:lnTo>
                    <a:cubicBezTo>
                      <a:pt x="40354" y="1041400"/>
                      <a:pt x="26385" y="1035614"/>
                      <a:pt x="16085" y="1025315"/>
                    </a:cubicBezTo>
                    <a:cubicBezTo>
                      <a:pt x="5786" y="1015015"/>
                      <a:pt x="0" y="1001046"/>
                      <a:pt x="0" y="986481"/>
                    </a:cubicBezTo>
                    <a:lnTo>
                      <a:pt x="0" y="54919"/>
                    </a:lnTo>
                    <a:cubicBezTo>
                      <a:pt x="0" y="40354"/>
                      <a:pt x="5786" y="26385"/>
                      <a:pt x="16085" y="16085"/>
                    </a:cubicBezTo>
                    <a:cubicBezTo>
                      <a:pt x="26385" y="5786"/>
                      <a:pt x="40354" y="0"/>
                      <a:pt x="549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9525"/>
                <a:ext cx="4699000" cy="1031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/>
                <a:r>
                  <a:rPr lang="en-US" sz="2000" b="1">
                    <a:solidFill>
                      <a:srgbClr val="10293F"/>
                    </a:solidFill>
                    <a:latin typeface="DM Sans Bold"/>
                    <a:ea typeface="DM Sans Bold"/>
                    <a:cs typeface="DM Sans Bold"/>
                    <a:sym typeface="DM Sans Bold"/>
                  </a:rPr>
                  <a:t>DATA SOURCES</a:t>
                </a: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5016500" y="0"/>
              <a:ext cx="16129000" cy="1041400"/>
              <a:chOff x="0" y="0"/>
              <a:chExt cx="16129000" cy="10414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6129000" cy="1041400"/>
              </a:xfrm>
              <a:custGeom>
                <a:avLst/>
                <a:gdLst/>
                <a:ahLst/>
                <a:cxnLst/>
                <a:rect l="l" t="t" r="r" b="b"/>
                <a:pathLst>
                  <a:path w="16129000" h="1041400">
                    <a:moveTo>
                      <a:pt x="0" y="0"/>
                    </a:moveTo>
                    <a:lnTo>
                      <a:pt x="16129000" y="0"/>
                    </a:lnTo>
                    <a:lnTo>
                      <a:pt x="16129000" y="1041400"/>
                    </a:lnTo>
                    <a:lnTo>
                      <a:pt x="0" y="10414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16129000" cy="1079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/>
                <a:endParaRPr sz="2800"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5588000" y="263525"/>
              <a:ext cx="14732000" cy="5745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800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Vessels  •  Berths  •  Cranes  •  Yard  •  Routes  •  Alerts  •  Events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>
            <a:off x="2952750" y="3514725"/>
            <a:ext cx="0" cy="304800"/>
          </a:xfrm>
          <a:prstGeom prst="line">
            <a:avLst/>
          </a:prstGeom>
          <a:ln w="28575" cap="flat">
            <a:solidFill>
              <a:srgbClr val="00A7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17" name="Group 17"/>
          <p:cNvGrpSpPr/>
          <p:nvPr/>
        </p:nvGrpSpPr>
        <p:grpSpPr>
          <a:xfrm>
            <a:off x="1190625" y="3857625"/>
            <a:ext cx="15859125" cy="781050"/>
            <a:chOff x="0" y="0"/>
            <a:chExt cx="21145500" cy="1041400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4699000" cy="1041400"/>
              <a:chOff x="0" y="0"/>
              <a:chExt cx="4699000" cy="10414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4699000" cy="1041400"/>
              </a:xfrm>
              <a:custGeom>
                <a:avLst/>
                <a:gdLst/>
                <a:ahLst/>
                <a:cxnLst/>
                <a:rect l="l" t="t" r="r" b="b"/>
                <a:pathLst>
                  <a:path w="4699000" h="1041400">
                    <a:moveTo>
                      <a:pt x="54919" y="0"/>
                    </a:moveTo>
                    <a:lnTo>
                      <a:pt x="4644081" y="0"/>
                    </a:lnTo>
                    <a:cubicBezTo>
                      <a:pt x="4658647" y="0"/>
                      <a:pt x="4672615" y="5786"/>
                      <a:pt x="4682915" y="16085"/>
                    </a:cubicBezTo>
                    <a:cubicBezTo>
                      <a:pt x="4693214" y="26385"/>
                      <a:pt x="4699000" y="40354"/>
                      <a:pt x="4699000" y="54919"/>
                    </a:cubicBezTo>
                    <a:lnTo>
                      <a:pt x="4699000" y="986481"/>
                    </a:lnTo>
                    <a:cubicBezTo>
                      <a:pt x="4699000" y="1001046"/>
                      <a:pt x="4693214" y="1015015"/>
                      <a:pt x="4682915" y="1025315"/>
                    </a:cubicBezTo>
                    <a:cubicBezTo>
                      <a:pt x="4672615" y="1035614"/>
                      <a:pt x="4658647" y="1041400"/>
                      <a:pt x="4644081" y="1041400"/>
                    </a:cubicBezTo>
                    <a:lnTo>
                      <a:pt x="54919" y="1041400"/>
                    </a:lnTo>
                    <a:cubicBezTo>
                      <a:pt x="40354" y="1041400"/>
                      <a:pt x="26385" y="1035614"/>
                      <a:pt x="16085" y="1025315"/>
                    </a:cubicBezTo>
                    <a:cubicBezTo>
                      <a:pt x="5786" y="1015015"/>
                      <a:pt x="0" y="1001046"/>
                      <a:pt x="0" y="986481"/>
                    </a:cubicBezTo>
                    <a:lnTo>
                      <a:pt x="0" y="54919"/>
                    </a:lnTo>
                    <a:cubicBezTo>
                      <a:pt x="0" y="40354"/>
                      <a:pt x="5786" y="26385"/>
                      <a:pt x="16085" y="16085"/>
                    </a:cubicBezTo>
                    <a:cubicBezTo>
                      <a:pt x="26385" y="5786"/>
                      <a:pt x="40354" y="0"/>
                      <a:pt x="549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9525"/>
                <a:ext cx="4699000" cy="1031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/>
                <a:r>
                  <a:rPr lang="en-US" sz="2000" b="1">
                    <a:solidFill>
                      <a:srgbClr val="10293F"/>
                    </a:solidFill>
                    <a:latin typeface="DM Sans Bold"/>
                    <a:ea typeface="DM Sans Bold"/>
                    <a:cs typeface="DM Sans Bold"/>
                    <a:sym typeface="DM Sans Bold"/>
                  </a:rPr>
                  <a:t>VALIDATE + TRANSFORM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016500" y="0"/>
              <a:ext cx="16129000" cy="1041400"/>
              <a:chOff x="0" y="0"/>
              <a:chExt cx="16129000" cy="10414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6129000" cy="1041400"/>
              </a:xfrm>
              <a:custGeom>
                <a:avLst/>
                <a:gdLst/>
                <a:ahLst/>
                <a:cxnLst/>
                <a:rect l="l" t="t" r="r" b="b"/>
                <a:pathLst>
                  <a:path w="16129000" h="1041400">
                    <a:moveTo>
                      <a:pt x="0" y="0"/>
                    </a:moveTo>
                    <a:lnTo>
                      <a:pt x="16129000" y="0"/>
                    </a:lnTo>
                    <a:lnTo>
                      <a:pt x="16129000" y="1041400"/>
                    </a:lnTo>
                    <a:lnTo>
                      <a:pt x="0" y="10414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16129000" cy="1079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/>
                <a:endParaRPr sz="2800"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5588000" y="263525"/>
              <a:ext cx="14732000" cy="5745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800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Quality checks  •  Normalisation  •  Operational event model</a:t>
              </a:r>
            </a:p>
          </p:txBody>
        </p:sp>
      </p:grpSp>
      <p:sp>
        <p:nvSpPr>
          <p:cNvPr id="25" name="AutoShape 25"/>
          <p:cNvSpPr/>
          <p:nvPr/>
        </p:nvSpPr>
        <p:spPr>
          <a:xfrm>
            <a:off x="2952750" y="4657725"/>
            <a:ext cx="0" cy="304800"/>
          </a:xfrm>
          <a:prstGeom prst="line">
            <a:avLst/>
          </a:prstGeom>
          <a:ln w="28575" cap="flat">
            <a:solidFill>
              <a:srgbClr val="00A7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6" name="Group 26"/>
          <p:cNvGrpSpPr/>
          <p:nvPr/>
        </p:nvGrpSpPr>
        <p:grpSpPr>
          <a:xfrm>
            <a:off x="1190625" y="5000625"/>
            <a:ext cx="15859125" cy="781050"/>
            <a:chOff x="0" y="0"/>
            <a:chExt cx="21145500" cy="1041400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4699000" cy="1041400"/>
              <a:chOff x="0" y="0"/>
              <a:chExt cx="4699000" cy="10414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4699000" cy="1041400"/>
              </a:xfrm>
              <a:custGeom>
                <a:avLst/>
                <a:gdLst/>
                <a:ahLst/>
                <a:cxnLst/>
                <a:rect l="l" t="t" r="r" b="b"/>
                <a:pathLst>
                  <a:path w="4699000" h="1041400">
                    <a:moveTo>
                      <a:pt x="54919" y="0"/>
                    </a:moveTo>
                    <a:lnTo>
                      <a:pt x="4644081" y="0"/>
                    </a:lnTo>
                    <a:cubicBezTo>
                      <a:pt x="4658647" y="0"/>
                      <a:pt x="4672615" y="5786"/>
                      <a:pt x="4682915" y="16085"/>
                    </a:cubicBezTo>
                    <a:cubicBezTo>
                      <a:pt x="4693214" y="26385"/>
                      <a:pt x="4699000" y="40354"/>
                      <a:pt x="4699000" y="54919"/>
                    </a:cubicBezTo>
                    <a:lnTo>
                      <a:pt x="4699000" y="986481"/>
                    </a:lnTo>
                    <a:cubicBezTo>
                      <a:pt x="4699000" y="1001046"/>
                      <a:pt x="4693214" y="1015015"/>
                      <a:pt x="4682915" y="1025315"/>
                    </a:cubicBezTo>
                    <a:cubicBezTo>
                      <a:pt x="4672615" y="1035614"/>
                      <a:pt x="4658647" y="1041400"/>
                      <a:pt x="4644081" y="1041400"/>
                    </a:cubicBezTo>
                    <a:lnTo>
                      <a:pt x="54919" y="1041400"/>
                    </a:lnTo>
                    <a:cubicBezTo>
                      <a:pt x="40354" y="1041400"/>
                      <a:pt x="26385" y="1035614"/>
                      <a:pt x="16085" y="1025315"/>
                    </a:cubicBezTo>
                    <a:cubicBezTo>
                      <a:pt x="5786" y="1015015"/>
                      <a:pt x="0" y="1001046"/>
                      <a:pt x="0" y="986481"/>
                    </a:cubicBezTo>
                    <a:lnTo>
                      <a:pt x="0" y="54919"/>
                    </a:lnTo>
                    <a:cubicBezTo>
                      <a:pt x="0" y="40354"/>
                      <a:pt x="5786" y="26385"/>
                      <a:pt x="16085" y="16085"/>
                    </a:cubicBezTo>
                    <a:cubicBezTo>
                      <a:pt x="26385" y="5786"/>
                      <a:pt x="40354" y="0"/>
                      <a:pt x="54919" y="0"/>
                    </a:cubicBezTo>
                    <a:close/>
                  </a:path>
                </a:pathLst>
              </a:custGeom>
              <a:solidFill>
                <a:srgbClr val="071B3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9525"/>
                <a:ext cx="4699000" cy="1031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/>
                <a:r>
                  <a:rPr lang="en-US" sz="2000" b="1">
                    <a:solidFill>
                      <a:srgbClr val="FFFFFF"/>
                    </a:solidFill>
                    <a:latin typeface="DM Sans Bold"/>
                    <a:ea typeface="DM Sans Bold"/>
                    <a:cs typeface="DM Sans Bold"/>
                    <a:sym typeface="DM Sans Bold"/>
                  </a:rPr>
                  <a:t>PORT DIGITAL TWIN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5016500" y="0"/>
              <a:ext cx="16129000" cy="1041400"/>
              <a:chOff x="0" y="0"/>
              <a:chExt cx="16129000" cy="10414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6129000" cy="1041400"/>
              </a:xfrm>
              <a:custGeom>
                <a:avLst/>
                <a:gdLst/>
                <a:ahLst/>
                <a:cxnLst/>
                <a:rect l="l" t="t" r="r" b="b"/>
                <a:pathLst>
                  <a:path w="16129000" h="1041400">
                    <a:moveTo>
                      <a:pt x="0" y="0"/>
                    </a:moveTo>
                    <a:lnTo>
                      <a:pt x="16129000" y="0"/>
                    </a:lnTo>
                    <a:lnTo>
                      <a:pt x="16129000" y="1041400"/>
                    </a:lnTo>
                    <a:lnTo>
                      <a:pt x="0" y="1041400"/>
                    </a:lnTo>
                    <a:close/>
                  </a:path>
                </a:pathLst>
              </a:custGeom>
              <a:solidFill>
                <a:srgbClr val="DCEFF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16129000" cy="1079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/>
                <a:endParaRPr sz="2800"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5588000" y="263525"/>
              <a:ext cx="14732000" cy="5745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800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One continuously updated operational state</a:t>
              </a:r>
            </a:p>
          </p:txBody>
        </p:sp>
      </p:grpSp>
      <p:sp>
        <p:nvSpPr>
          <p:cNvPr id="34" name="AutoShape 34"/>
          <p:cNvSpPr/>
          <p:nvPr/>
        </p:nvSpPr>
        <p:spPr>
          <a:xfrm>
            <a:off x="2952750" y="5800725"/>
            <a:ext cx="0" cy="304800"/>
          </a:xfrm>
          <a:prstGeom prst="line">
            <a:avLst/>
          </a:prstGeom>
          <a:ln w="28575" cap="flat">
            <a:solidFill>
              <a:srgbClr val="00A7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190625" y="6143625"/>
            <a:ext cx="15859125" cy="1059418"/>
            <a:chOff x="0" y="0"/>
            <a:chExt cx="21145500" cy="1412557"/>
          </a:xfrm>
        </p:grpSpPr>
        <p:grpSp>
          <p:nvGrpSpPr>
            <p:cNvPr id="36" name="Group 36"/>
            <p:cNvGrpSpPr/>
            <p:nvPr/>
          </p:nvGrpSpPr>
          <p:grpSpPr>
            <a:xfrm>
              <a:off x="0" y="0"/>
              <a:ext cx="4699000" cy="1041400"/>
              <a:chOff x="0" y="0"/>
              <a:chExt cx="4699000" cy="10414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4699000" cy="1041400"/>
              </a:xfrm>
              <a:custGeom>
                <a:avLst/>
                <a:gdLst/>
                <a:ahLst/>
                <a:cxnLst/>
                <a:rect l="l" t="t" r="r" b="b"/>
                <a:pathLst>
                  <a:path w="4699000" h="1041400">
                    <a:moveTo>
                      <a:pt x="54919" y="0"/>
                    </a:moveTo>
                    <a:lnTo>
                      <a:pt x="4644081" y="0"/>
                    </a:lnTo>
                    <a:cubicBezTo>
                      <a:pt x="4658647" y="0"/>
                      <a:pt x="4672615" y="5786"/>
                      <a:pt x="4682915" y="16085"/>
                    </a:cubicBezTo>
                    <a:cubicBezTo>
                      <a:pt x="4693214" y="26385"/>
                      <a:pt x="4699000" y="40354"/>
                      <a:pt x="4699000" y="54919"/>
                    </a:cubicBezTo>
                    <a:lnTo>
                      <a:pt x="4699000" y="986481"/>
                    </a:lnTo>
                    <a:cubicBezTo>
                      <a:pt x="4699000" y="1001046"/>
                      <a:pt x="4693214" y="1015015"/>
                      <a:pt x="4682915" y="1025315"/>
                    </a:cubicBezTo>
                    <a:cubicBezTo>
                      <a:pt x="4672615" y="1035614"/>
                      <a:pt x="4658647" y="1041400"/>
                      <a:pt x="4644081" y="1041400"/>
                    </a:cubicBezTo>
                    <a:lnTo>
                      <a:pt x="54919" y="1041400"/>
                    </a:lnTo>
                    <a:cubicBezTo>
                      <a:pt x="40354" y="1041400"/>
                      <a:pt x="26385" y="1035614"/>
                      <a:pt x="16085" y="1025315"/>
                    </a:cubicBezTo>
                    <a:cubicBezTo>
                      <a:pt x="5786" y="1015015"/>
                      <a:pt x="0" y="1001046"/>
                      <a:pt x="0" y="986481"/>
                    </a:cubicBezTo>
                    <a:lnTo>
                      <a:pt x="0" y="54919"/>
                    </a:lnTo>
                    <a:cubicBezTo>
                      <a:pt x="0" y="40354"/>
                      <a:pt x="5786" y="26385"/>
                      <a:pt x="16085" y="16085"/>
                    </a:cubicBezTo>
                    <a:cubicBezTo>
                      <a:pt x="26385" y="5786"/>
                      <a:pt x="40354" y="0"/>
                      <a:pt x="549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9525"/>
                <a:ext cx="4699000" cy="1031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/>
                <a:r>
                  <a:rPr lang="en-US" sz="2000" b="1">
                    <a:solidFill>
                      <a:srgbClr val="10293F"/>
                    </a:solidFill>
                    <a:latin typeface="DM Sans Bold"/>
                    <a:ea typeface="DM Sans Bold"/>
                    <a:cs typeface="DM Sans Bold"/>
                    <a:sym typeface="DM Sans Bold"/>
                  </a:rPr>
                  <a:t>INTELLIGENCE ENGINES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016500" y="0"/>
              <a:ext cx="16129000" cy="1041400"/>
              <a:chOff x="0" y="0"/>
              <a:chExt cx="16129000" cy="10414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16129000" cy="1041400"/>
              </a:xfrm>
              <a:custGeom>
                <a:avLst/>
                <a:gdLst/>
                <a:ahLst/>
                <a:cxnLst/>
                <a:rect l="l" t="t" r="r" b="b"/>
                <a:pathLst>
                  <a:path w="16129000" h="1041400">
                    <a:moveTo>
                      <a:pt x="0" y="0"/>
                    </a:moveTo>
                    <a:lnTo>
                      <a:pt x="16129000" y="0"/>
                    </a:lnTo>
                    <a:lnTo>
                      <a:pt x="16129000" y="1041400"/>
                    </a:lnTo>
                    <a:lnTo>
                      <a:pt x="0" y="10414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0" y="-38100"/>
                <a:ext cx="16129000" cy="1079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/>
                <a:endParaRPr sz="2800"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5587999" y="263525"/>
              <a:ext cx="15379687" cy="11490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/>
              <a:r>
                <a:rPr lang="en-US" sz="2800" dirty="0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ML Prediction  •  OR-Tools  •  Simulation  •  72h Planning  •  Routes  •  Gemini</a:t>
              </a:r>
            </a:p>
          </p:txBody>
        </p:sp>
      </p:grpSp>
      <p:sp>
        <p:nvSpPr>
          <p:cNvPr id="43" name="AutoShape 43"/>
          <p:cNvSpPr/>
          <p:nvPr/>
        </p:nvSpPr>
        <p:spPr>
          <a:xfrm>
            <a:off x="2952750" y="6943725"/>
            <a:ext cx="0" cy="304800"/>
          </a:xfrm>
          <a:prstGeom prst="line">
            <a:avLst/>
          </a:prstGeom>
          <a:ln w="28575" cap="flat">
            <a:solidFill>
              <a:srgbClr val="00A7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44" name="Group 44"/>
          <p:cNvGrpSpPr/>
          <p:nvPr/>
        </p:nvGrpSpPr>
        <p:grpSpPr>
          <a:xfrm>
            <a:off x="1190625" y="7286625"/>
            <a:ext cx="15859125" cy="781050"/>
            <a:chOff x="0" y="0"/>
            <a:chExt cx="21145500" cy="1041400"/>
          </a:xfrm>
        </p:grpSpPr>
        <p:grpSp>
          <p:nvGrpSpPr>
            <p:cNvPr id="45" name="Group 45"/>
            <p:cNvGrpSpPr/>
            <p:nvPr/>
          </p:nvGrpSpPr>
          <p:grpSpPr>
            <a:xfrm>
              <a:off x="0" y="0"/>
              <a:ext cx="4699000" cy="1041400"/>
              <a:chOff x="0" y="0"/>
              <a:chExt cx="4699000" cy="10414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4699000" cy="1041400"/>
              </a:xfrm>
              <a:custGeom>
                <a:avLst/>
                <a:gdLst/>
                <a:ahLst/>
                <a:cxnLst/>
                <a:rect l="l" t="t" r="r" b="b"/>
                <a:pathLst>
                  <a:path w="4699000" h="1041400">
                    <a:moveTo>
                      <a:pt x="54919" y="0"/>
                    </a:moveTo>
                    <a:lnTo>
                      <a:pt x="4644081" y="0"/>
                    </a:lnTo>
                    <a:cubicBezTo>
                      <a:pt x="4658647" y="0"/>
                      <a:pt x="4672615" y="5786"/>
                      <a:pt x="4682915" y="16085"/>
                    </a:cubicBezTo>
                    <a:cubicBezTo>
                      <a:pt x="4693214" y="26385"/>
                      <a:pt x="4699000" y="40354"/>
                      <a:pt x="4699000" y="54919"/>
                    </a:cubicBezTo>
                    <a:lnTo>
                      <a:pt x="4699000" y="986481"/>
                    </a:lnTo>
                    <a:cubicBezTo>
                      <a:pt x="4699000" y="1001046"/>
                      <a:pt x="4693214" y="1015015"/>
                      <a:pt x="4682915" y="1025315"/>
                    </a:cubicBezTo>
                    <a:cubicBezTo>
                      <a:pt x="4672615" y="1035614"/>
                      <a:pt x="4658647" y="1041400"/>
                      <a:pt x="4644081" y="1041400"/>
                    </a:cubicBezTo>
                    <a:lnTo>
                      <a:pt x="54919" y="1041400"/>
                    </a:lnTo>
                    <a:cubicBezTo>
                      <a:pt x="40354" y="1041400"/>
                      <a:pt x="26385" y="1035614"/>
                      <a:pt x="16085" y="1025315"/>
                    </a:cubicBezTo>
                    <a:cubicBezTo>
                      <a:pt x="5786" y="1015015"/>
                      <a:pt x="0" y="1001046"/>
                      <a:pt x="0" y="986481"/>
                    </a:cubicBezTo>
                    <a:lnTo>
                      <a:pt x="0" y="54919"/>
                    </a:lnTo>
                    <a:cubicBezTo>
                      <a:pt x="0" y="40354"/>
                      <a:pt x="5786" y="26385"/>
                      <a:pt x="16085" y="16085"/>
                    </a:cubicBezTo>
                    <a:cubicBezTo>
                      <a:pt x="26385" y="5786"/>
                      <a:pt x="40354" y="0"/>
                      <a:pt x="549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0" y="9525"/>
                <a:ext cx="4699000" cy="1031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/>
                <a:r>
                  <a:rPr lang="en-US" sz="2000" b="1">
                    <a:solidFill>
                      <a:srgbClr val="10293F"/>
                    </a:solidFill>
                    <a:latin typeface="DM Sans Bold"/>
                    <a:ea typeface="DM Sans Bold"/>
                    <a:cs typeface="DM Sans Bold"/>
                    <a:sym typeface="DM Sans Bold"/>
                  </a:rPr>
                  <a:t>DECISION LAYER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5016500" y="0"/>
              <a:ext cx="16129000" cy="1041400"/>
              <a:chOff x="0" y="0"/>
              <a:chExt cx="16129000" cy="10414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16129000" cy="1041400"/>
              </a:xfrm>
              <a:custGeom>
                <a:avLst/>
                <a:gdLst/>
                <a:ahLst/>
                <a:cxnLst/>
                <a:rect l="l" t="t" r="r" b="b"/>
                <a:pathLst>
                  <a:path w="16129000" h="1041400">
                    <a:moveTo>
                      <a:pt x="0" y="0"/>
                    </a:moveTo>
                    <a:lnTo>
                      <a:pt x="16129000" y="0"/>
                    </a:lnTo>
                    <a:lnTo>
                      <a:pt x="16129000" y="1041400"/>
                    </a:lnTo>
                    <a:lnTo>
                      <a:pt x="0" y="10414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0" y="-38100"/>
                <a:ext cx="16129000" cy="1079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/>
                <a:endParaRPr sz="2800"/>
              </a:p>
            </p:txBody>
          </p:sp>
        </p:grpSp>
        <p:sp>
          <p:nvSpPr>
            <p:cNvPr id="51" name="TextBox 51"/>
            <p:cNvSpPr txBox="1"/>
            <p:nvPr/>
          </p:nvSpPr>
          <p:spPr>
            <a:xfrm>
              <a:off x="5588000" y="263525"/>
              <a:ext cx="14732000" cy="5745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800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Prioritise  •  Compare  •  Recommend  •  Explain  •  Approve</a:t>
              </a:r>
            </a:p>
          </p:txBody>
        </p:sp>
      </p:grpSp>
      <p:sp>
        <p:nvSpPr>
          <p:cNvPr id="52" name="AutoShape 52"/>
          <p:cNvSpPr/>
          <p:nvPr/>
        </p:nvSpPr>
        <p:spPr>
          <a:xfrm>
            <a:off x="2952750" y="8086725"/>
            <a:ext cx="0" cy="304800"/>
          </a:xfrm>
          <a:prstGeom prst="line">
            <a:avLst/>
          </a:prstGeom>
          <a:ln w="28575" cap="flat">
            <a:solidFill>
              <a:srgbClr val="00A7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53" name="Group 53"/>
          <p:cNvGrpSpPr/>
          <p:nvPr/>
        </p:nvGrpSpPr>
        <p:grpSpPr>
          <a:xfrm>
            <a:off x="1190625" y="8429625"/>
            <a:ext cx="15859125" cy="781050"/>
            <a:chOff x="0" y="0"/>
            <a:chExt cx="21145500" cy="1041400"/>
          </a:xfrm>
        </p:grpSpPr>
        <p:grpSp>
          <p:nvGrpSpPr>
            <p:cNvPr id="54" name="Group 54"/>
            <p:cNvGrpSpPr/>
            <p:nvPr/>
          </p:nvGrpSpPr>
          <p:grpSpPr>
            <a:xfrm>
              <a:off x="0" y="0"/>
              <a:ext cx="4699000" cy="1041400"/>
              <a:chOff x="0" y="0"/>
              <a:chExt cx="4699000" cy="104140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4699000" cy="1041400"/>
              </a:xfrm>
              <a:custGeom>
                <a:avLst/>
                <a:gdLst/>
                <a:ahLst/>
                <a:cxnLst/>
                <a:rect l="l" t="t" r="r" b="b"/>
                <a:pathLst>
                  <a:path w="4699000" h="1041400">
                    <a:moveTo>
                      <a:pt x="54919" y="0"/>
                    </a:moveTo>
                    <a:lnTo>
                      <a:pt x="4644081" y="0"/>
                    </a:lnTo>
                    <a:cubicBezTo>
                      <a:pt x="4658647" y="0"/>
                      <a:pt x="4672615" y="5786"/>
                      <a:pt x="4682915" y="16085"/>
                    </a:cubicBezTo>
                    <a:cubicBezTo>
                      <a:pt x="4693214" y="26385"/>
                      <a:pt x="4699000" y="40354"/>
                      <a:pt x="4699000" y="54919"/>
                    </a:cubicBezTo>
                    <a:lnTo>
                      <a:pt x="4699000" y="986481"/>
                    </a:lnTo>
                    <a:cubicBezTo>
                      <a:pt x="4699000" y="1001046"/>
                      <a:pt x="4693214" y="1015015"/>
                      <a:pt x="4682915" y="1025315"/>
                    </a:cubicBezTo>
                    <a:cubicBezTo>
                      <a:pt x="4672615" y="1035614"/>
                      <a:pt x="4658647" y="1041400"/>
                      <a:pt x="4644081" y="1041400"/>
                    </a:cubicBezTo>
                    <a:lnTo>
                      <a:pt x="54919" y="1041400"/>
                    </a:lnTo>
                    <a:cubicBezTo>
                      <a:pt x="40354" y="1041400"/>
                      <a:pt x="26385" y="1035614"/>
                      <a:pt x="16085" y="1025315"/>
                    </a:cubicBezTo>
                    <a:cubicBezTo>
                      <a:pt x="5786" y="1015015"/>
                      <a:pt x="0" y="1001046"/>
                      <a:pt x="0" y="986481"/>
                    </a:cubicBezTo>
                    <a:lnTo>
                      <a:pt x="0" y="54919"/>
                    </a:lnTo>
                    <a:cubicBezTo>
                      <a:pt x="0" y="40354"/>
                      <a:pt x="5786" y="26385"/>
                      <a:pt x="16085" y="16085"/>
                    </a:cubicBezTo>
                    <a:cubicBezTo>
                      <a:pt x="26385" y="5786"/>
                      <a:pt x="40354" y="0"/>
                      <a:pt x="5491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0" y="9525"/>
                <a:ext cx="4699000" cy="10318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/>
                <a:r>
                  <a:rPr lang="en-US" sz="2000" b="1">
                    <a:solidFill>
                      <a:srgbClr val="10293F"/>
                    </a:solidFill>
                    <a:latin typeface="DM Sans Bold"/>
                    <a:ea typeface="DM Sans Bold"/>
                    <a:cs typeface="DM Sans Bold"/>
                    <a:sym typeface="DM Sans Bold"/>
                  </a:rPr>
                  <a:t>OPERATIONS DASHBOARD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016500" y="0"/>
              <a:ext cx="16129000" cy="1041400"/>
              <a:chOff x="0" y="0"/>
              <a:chExt cx="16129000" cy="10414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16129000" cy="1041400"/>
              </a:xfrm>
              <a:custGeom>
                <a:avLst/>
                <a:gdLst/>
                <a:ahLst/>
                <a:cxnLst/>
                <a:rect l="l" t="t" r="r" b="b"/>
                <a:pathLst>
                  <a:path w="16129000" h="1041400">
                    <a:moveTo>
                      <a:pt x="0" y="0"/>
                    </a:moveTo>
                    <a:lnTo>
                      <a:pt x="16129000" y="0"/>
                    </a:lnTo>
                    <a:lnTo>
                      <a:pt x="16129000" y="1041400"/>
                    </a:lnTo>
                    <a:lnTo>
                      <a:pt x="0" y="10414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0" y="-38100"/>
                <a:ext cx="16129000" cy="1079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/>
                <a:endParaRPr sz="2800"/>
              </a:p>
            </p:txBody>
          </p:sp>
        </p:grpSp>
        <p:sp>
          <p:nvSpPr>
            <p:cNvPr id="60" name="TextBox 60"/>
            <p:cNvSpPr txBox="1"/>
            <p:nvPr/>
          </p:nvSpPr>
          <p:spPr>
            <a:xfrm>
              <a:off x="5588000" y="263525"/>
              <a:ext cx="14732000" cy="5745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800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Command Center  •  Planner  •  Alerts  •  Copilot</a:t>
              </a:r>
            </a:p>
          </p:txBody>
        </p:sp>
      </p:grpSp>
      <p:sp>
        <p:nvSpPr>
          <p:cNvPr id="63" name="TextBox 22">
            <a:extLst>
              <a:ext uri="{FF2B5EF4-FFF2-40B4-BE49-F238E27FC236}">
                <a16:creationId xmlns:a16="http://schemas.microsoft.com/office/drawing/2014/main" id="{3F11B465-725E-17E2-9CF5-C9D3D02A24EE}"/>
              </a:ext>
            </a:extLst>
          </p:cNvPr>
          <p:cNvSpPr txBox="1"/>
          <p:nvPr/>
        </p:nvSpPr>
        <p:spPr>
          <a:xfrm>
            <a:off x="990600" y="9667875"/>
            <a:ext cx="4762500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b="1" spc="144" dirty="0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PortsPilot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0600" y="590550"/>
            <a:ext cx="11430000" cy="246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1600" b="1" spc="162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COMMAND CENTER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90600" y="1076325"/>
            <a:ext cx="14287500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4800" b="1" dirty="0">
                <a:solidFill>
                  <a:srgbClr val="10293F"/>
                </a:solidFill>
                <a:latin typeface="DM Sans Bold"/>
                <a:ea typeface="DM Sans Bold"/>
                <a:cs typeface="DM Sans Bold"/>
                <a:sym typeface="DM Sans Bold"/>
              </a:rPr>
              <a:t>See the port before the bottleneck arrives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649700" y="438150"/>
            <a:ext cx="647700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lang="en-US" sz="2000">
                <a:solidFill>
                  <a:srgbClr val="597084"/>
                </a:solidFill>
                <a:latin typeface="DM Sans"/>
                <a:ea typeface="DM Sans"/>
                <a:cs typeface="DM Sans"/>
                <a:sym typeface="DM Sans"/>
              </a:rPr>
              <a:t>05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25250" y="1057275"/>
            <a:ext cx="5715000" cy="492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lang="en-US" sz="3200" b="1" dirty="0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What needs attention now?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90600" y="2571750"/>
            <a:ext cx="3333750" cy="1809750"/>
            <a:chOff x="0" y="0"/>
            <a:chExt cx="4445000" cy="24130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4445000" cy="2413000"/>
              <a:chOff x="0" y="0"/>
              <a:chExt cx="4445000" cy="2413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445000" cy="2413000"/>
              </a:xfrm>
              <a:custGeom>
                <a:avLst/>
                <a:gdLst/>
                <a:ahLst/>
                <a:cxnLst/>
                <a:rect l="l" t="t" r="r" b="b"/>
                <a:pathLst>
                  <a:path w="4445000" h="2413000">
                    <a:moveTo>
                      <a:pt x="0" y="0"/>
                    </a:moveTo>
                    <a:lnTo>
                      <a:pt x="4445000" y="0"/>
                    </a:lnTo>
                    <a:lnTo>
                      <a:pt x="4445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071B3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 sz="14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4445000" cy="245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/>
                <a:endParaRPr sz="2000"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355600" y="301625"/>
              <a:ext cx="3733800" cy="3282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1600" b="1" spc="152">
                  <a:solidFill>
                    <a:srgbClr val="00A7C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CONGESTION RISK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5600" y="762000"/>
              <a:ext cx="3733800" cy="9848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48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HIGH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5600" y="1733551"/>
              <a:ext cx="3733800" cy="369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B04 projected 94%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705350" y="2571750"/>
            <a:ext cx="3333750" cy="1809750"/>
            <a:chOff x="0" y="0"/>
            <a:chExt cx="4445000" cy="2413000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4445000" cy="2413000"/>
              <a:chOff x="0" y="0"/>
              <a:chExt cx="4445000" cy="2413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4445000" cy="2413000"/>
              </a:xfrm>
              <a:custGeom>
                <a:avLst/>
                <a:gdLst/>
                <a:ahLst/>
                <a:cxnLst/>
                <a:rect l="l" t="t" r="r" b="b"/>
                <a:pathLst>
                  <a:path w="4445000" h="2413000">
                    <a:moveTo>
                      <a:pt x="0" y="0"/>
                    </a:moveTo>
                    <a:lnTo>
                      <a:pt x="4445000" y="0"/>
                    </a:lnTo>
                    <a:lnTo>
                      <a:pt x="4445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E7F1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 sz="14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4445000" cy="245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/>
                <a:endParaRPr sz="2000"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355600" y="301625"/>
              <a:ext cx="3733800" cy="3282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1600" b="1" spc="152">
                  <a:solidFill>
                    <a:srgbClr val="00A7C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VESSEL QUEUE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5600" y="762000"/>
              <a:ext cx="3733800" cy="9848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48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07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5600" y="1733551"/>
              <a:ext cx="3733800" cy="369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+3 in next 12h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420100" y="2571750"/>
            <a:ext cx="3333750" cy="1809750"/>
            <a:chOff x="0" y="0"/>
            <a:chExt cx="4445000" cy="2413000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4445000" cy="2413000"/>
              <a:chOff x="0" y="0"/>
              <a:chExt cx="4445000" cy="24130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4445000" cy="2413000"/>
              </a:xfrm>
              <a:custGeom>
                <a:avLst/>
                <a:gdLst/>
                <a:ahLst/>
                <a:cxnLst/>
                <a:rect l="l" t="t" r="r" b="b"/>
                <a:pathLst>
                  <a:path w="4445000" h="2413000">
                    <a:moveTo>
                      <a:pt x="0" y="0"/>
                    </a:moveTo>
                    <a:lnTo>
                      <a:pt x="4445000" y="0"/>
                    </a:lnTo>
                    <a:lnTo>
                      <a:pt x="4445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E7F1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 sz="1400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4445000" cy="245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/>
                <a:endParaRPr sz="2000"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355600" y="301625"/>
              <a:ext cx="3733800" cy="3282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1600" b="1" spc="152">
                  <a:solidFill>
                    <a:srgbClr val="00A7C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CRANES AVAILABLE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5600" y="762000"/>
              <a:ext cx="3733800" cy="9848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48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12 / 15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5600" y="1733552"/>
              <a:ext cx="3733800" cy="369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C03 maintenance risk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525375" y="2571750"/>
            <a:ext cx="4762500" cy="1847850"/>
            <a:chOff x="0" y="0"/>
            <a:chExt cx="6350000" cy="2463799"/>
          </a:xfrm>
        </p:grpSpPr>
        <p:grpSp>
          <p:nvGrpSpPr>
            <p:cNvPr id="31" name="Group 31"/>
            <p:cNvGrpSpPr/>
            <p:nvPr/>
          </p:nvGrpSpPr>
          <p:grpSpPr>
            <a:xfrm>
              <a:off x="0" y="0"/>
              <a:ext cx="6350000" cy="2413000"/>
              <a:chOff x="0" y="0"/>
              <a:chExt cx="6350000" cy="24130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6350000" cy="2413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2413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2413000"/>
                    </a:lnTo>
                    <a:lnTo>
                      <a:pt x="0" y="2413000"/>
                    </a:lnTo>
                    <a:close/>
                  </a:path>
                </a:pathLst>
              </a:custGeom>
              <a:solidFill>
                <a:srgbClr val="FFF2ED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 sz="1400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6350000" cy="245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/>
                <a:endParaRPr sz="2000"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406400" y="352425"/>
              <a:ext cx="5334000" cy="3282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1600" b="1" spc="127">
                  <a:solidFill>
                    <a:srgbClr val="EF835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CRITICAL ALERT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6400" y="740250"/>
              <a:ext cx="5334000" cy="17235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800" b="1" dirty="0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B04 capacity threshold</a:t>
              </a:r>
            </a:p>
            <a:p>
              <a:pPr algn="l"/>
              <a:r>
                <a:rPr lang="en-US" sz="2800" b="1" dirty="0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within 12 hours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90600" y="4857750"/>
            <a:ext cx="10668000" cy="4000500"/>
            <a:chOff x="0" y="0"/>
            <a:chExt cx="14224000" cy="5334000"/>
          </a:xfrm>
        </p:grpSpPr>
        <p:grpSp>
          <p:nvGrpSpPr>
            <p:cNvPr id="37" name="Group 37"/>
            <p:cNvGrpSpPr/>
            <p:nvPr/>
          </p:nvGrpSpPr>
          <p:grpSpPr>
            <a:xfrm>
              <a:off x="0" y="0"/>
              <a:ext cx="14224000" cy="5334000"/>
              <a:chOff x="0" y="0"/>
              <a:chExt cx="14224000" cy="53340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14224000" cy="5334000"/>
              </a:xfrm>
              <a:custGeom>
                <a:avLst/>
                <a:gdLst/>
                <a:ahLst/>
                <a:cxnLst/>
                <a:rect l="l" t="t" r="r" b="b"/>
                <a:pathLst>
                  <a:path w="14224000" h="5334000">
                    <a:moveTo>
                      <a:pt x="0" y="0"/>
                    </a:moveTo>
                    <a:lnTo>
                      <a:pt x="14224000" y="0"/>
                    </a:lnTo>
                    <a:lnTo>
                      <a:pt x="14224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E6F0F4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 sz="1400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38100"/>
                <a:ext cx="14224000" cy="537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/>
                <a:endParaRPr sz="2000"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431800" y="387351"/>
              <a:ext cx="6350000" cy="369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b="1" spc="171">
                  <a:solidFill>
                    <a:srgbClr val="00A7C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LIVE PORT STATE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31800" y="1190625"/>
              <a:ext cx="6350000" cy="7386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36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Berths B01—B06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31800" y="2066925"/>
              <a:ext cx="9906000" cy="19697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400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Vessel queues, berth utilisation and crane availability share one operational view. Forecast overlays surface the next constraint—not just the current state.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049125" y="4857750"/>
            <a:ext cx="5238750" cy="4000500"/>
            <a:chOff x="0" y="0"/>
            <a:chExt cx="6985000" cy="5334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6985000" cy="5334000"/>
              <a:chOff x="0" y="0"/>
              <a:chExt cx="6985000" cy="53340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6985000" cy="5334000"/>
              </a:xfrm>
              <a:custGeom>
                <a:avLst/>
                <a:gdLst/>
                <a:ahLst/>
                <a:cxnLst/>
                <a:rect l="l" t="t" r="r" b="b"/>
                <a:pathLst>
                  <a:path w="6985000" h="5334000">
                    <a:moveTo>
                      <a:pt x="0" y="0"/>
                    </a:moveTo>
                    <a:lnTo>
                      <a:pt x="6985000" y="0"/>
                    </a:lnTo>
                    <a:lnTo>
                      <a:pt x="6985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071B3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 sz="1400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0" y="-38100"/>
                <a:ext cx="6985000" cy="537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/>
                <a:endParaRPr sz="2000"/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508000" y="454025"/>
              <a:ext cx="5969000" cy="3282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1600" b="1" spc="152">
                  <a:solidFill>
                    <a:srgbClr val="00A7C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RECOMMENDED NEXT ACTION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08000" y="902176"/>
              <a:ext cx="5969000" cy="14773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Review B04 allocation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08000" y="2320925"/>
              <a:ext cx="5461000" cy="14773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4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Ocean Star can shift to B02; add one crane to reduce expected wait.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08000" y="4248151"/>
              <a:ext cx="5461000" cy="369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b="1" spc="171">
                  <a:solidFill>
                    <a:srgbClr val="00A7C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CONFIDENCE  86%</a:t>
              </a:r>
            </a:p>
          </p:txBody>
        </p:sp>
      </p:grpSp>
      <p:sp>
        <p:nvSpPr>
          <p:cNvPr id="53" name="TextBox 22">
            <a:extLst>
              <a:ext uri="{FF2B5EF4-FFF2-40B4-BE49-F238E27FC236}">
                <a16:creationId xmlns:a16="http://schemas.microsoft.com/office/drawing/2014/main" id="{C2932CBC-3E5A-1718-8E11-9987236D9A59}"/>
              </a:ext>
            </a:extLst>
          </p:cNvPr>
          <p:cNvSpPr txBox="1"/>
          <p:nvPr/>
        </p:nvSpPr>
        <p:spPr>
          <a:xfrm>
            <a:off x="990600" y="9715500"/>
            <a:ext cx="4762500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b="1" spc="144" dirty="0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PortsPilot 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0600" y="590550"/>
            <a:ext cx="11430000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b="1" spc="162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ML CONGESTION PREDICTION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90600" y="1076325"/>
            <a:ext cx="14287500" cy="1661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5400" b="1">
                <a:solidFill>
                  <a:srgbClr val="10293F"/>
                </a:solidFill>
                <a:latin typeface="DM Sans Bold"/>
                <a:ea typeface="DM Sans Bold"/>
                <a:cs typeface="DM Sans Bold"/>
                <a:sym typeface="DM Sans Bold"/>
              </a:rPr>
              <a:t>Predict congestion before it becomes disruption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649700" y="438150"/>
            <a:ext cx="647700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lang="en-US" sz="2400">
                <a:solidFill>
                  <a:srgbClr val="597084"/>
                </a:solidFill>
                <a:latin typeface="DM Sans"/>
                <a:ea typeface="DM Sans"/>
                <a:cs typeface="DM Sans"/>
                <a:sym typeface="DM Sans"/>
              </a:rPr>
              <a:t>06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5006" y="2810404"/>
            <a:ext cx="11206487" cy="6571193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990600" y="2714625"/>
            <a:ext cx="6191250" cy="5762625"/>
            <a:chOff x="0" y="0"/>
            <a:chExt cx="8255000" cy="76835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8255000" cy="7683500"/>
              <a:chOff x="0" y="0"/>
              <a:chExt cx="8255000" cy="76835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255000" cy="7683500"/>
              </a:xfrm>
              <a:custGeom>
                <a:avLst/>
                <a:gdLst/>
                <a:ahLst/>
                <a:cxnLst/>
                <a:rect l="l" t="t" r="r" b="b"/>
                <a:pathLst>
                  <a:path w="8255000" h="7683500">
                    <a:moveTo>
                      <a:pt x="0" y="0"/>
                    </a:moveTo>
                    <a:lnTo>
                      <a:pt x="8255000" y="0"/>
                    </a:lnTo>
                    <a:lnTo>
                      <a:pt x="8255000" y="7683500"/>
                    </a:lnTo>
                    <a:lnTo>
                      <a:pt x="0" y="7683500"/>
                    </a:lnTo>
                    <a:close/>
                  </a:path>
                </a:pathLst>
              </a:custGeom>
              <a:solidFill>
                <a:srgbClr val="071B3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8255000" cy="7721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/>
                <a:endParaRPr sz="2800"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584200" y="552451"/>
              <a:ext cx="7112000" cy="369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b="1" spc="162">
                  <a:solidFill>
                    <a:srgbClr val="00A7C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BERTH B04  /  24H FORECAST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84200" y="1409700"/>
              <a:ext cx="3175000" cy="1641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80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82%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84200" y="2701925"/>
              <a:ext cx="3429000" cy="7386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b="1" spc="144">
                  <a:solidFill>
                    <a:srgbClr val="00A7C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CURRENT UTILISATION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30700" y="1409700"/>
              <a:ext cx="3175000" cy="1641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8000" b="1">
                  <a:solidFill>
                    <a:srgbClr val="EF835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94%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30700" y="2701925"/>
              <a:ext cx="3302000" cy="7386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b="1" spc="144">
                  <a:solidFill>
                    <a:srgbClr val="00A7C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PREDICTED UTILISATION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84200" y="4333875"/>
              <a:ext cx="3048000" cy="8207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40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7 vessels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30700" y="4333875"/>
              <a:ext cx="3302000" cy="8207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40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11.4 hours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84200" y="5051425"/>
              <a:ext cx="3048000" cy="369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b="1" spc="144">
                  <a:solidFill>
                    <a:srgbClr val="00A7C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ACTIVE QUEUE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30700" y="5051425"/>
              <a:ext cx="3048000" cy="369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b="1" spc="144">
                  <a:solidFill>
                    <a:srgbClr val="00A7C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AVERAGE WAIT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84200" y="6575425"/>
              <a:ext cx="7048500" cy="4924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400" spc="86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6h   12h   24h   48h   72h</a:t>
              </a:r>
            </a:p>
          </p:txBody>
        </p:sp>
      </p:grpSp>
      <p:sp>
        <p:nvSpPr>
          <p:cNvPr id="25" name="TextBox 22">
            <a:extLst>
              <a:ext uri="{FF2B5EF4-FFF2-40B4-BE49-F238E27FC236}">
                <a16:creationId xmlns:a16="http://schemas.microsoft.com/office/drawing/2014/main" id="{B49A072B-7265-805A-B5E7-ED40D5E157CB}"/>
              </a:ext>
            </a:extLst>
          </p:cNvPr>
          <p:cNvSpPr txBox="1"/>
          <p:nvPr/>
        </p:nvSpPr>
        <p:spPr>
          <a:xfrm>
            <a:off x="990600" y="9667875"/>
            <a:ext cx="4762500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b="1" spc="144" dirty="0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PortsPilot 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0600" y="590550"/>
            <a:ext cx="11430000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b="1" spc="162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EXPLAINABLE DECISION INTELLIGENCE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90600" y="1076325"/>
            <a:ext cx="14287500" cy="1661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5400" b="1">
                <a:solidFill>
                  <a:srgbClr val="10293F"/>
                </a:solidFill>
                <a:latin typeface="DM Sans Bold"/>
                <a:ea typeface="DM Sans Bold"/>
                <a:cs typeface="DM Sans Bold"/>
                <a:sym typeface="DM Sans Bold"/>
              </a:rPr>
              <a:t>Prediction is useful. Understanding it is better.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649700" y="438150"/>
            <a:ext cx="647700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lang="en-US" sz="2400">
                <a:solidFill>
                  <a:srgbClr val="597084"/>
                </a:solidFill>
                <a:latin typeface="DM Sans"/>
                <a:ea typeface="DM Sans"/>
                <a:cs typeface="DM Sans"/>
                <a:sym typeface="DM Sans"/>
              </a:rPr>
              <a:t>07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0600" y="2905125"/>
            <a:ext cx="3714750" cy="3143250"/>
            <a:chOff x="0" y="0"/>
            <a:chExt cx="4953000" cy="4191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4953000" cy="4191000"/>
              <a:chOff x="0" y="0"/>
              <a:chExt cx="4953000" cy="4191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53000" cy="4191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4191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E7F1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53000" cy="422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/>
                <a:endParaRPr sz="2800"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81000" y="425451"/>
              <a:ext cx="4191000" cy="4103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000" b="1" spc="171">
                  <a:solidFill>
                    <a:srgbClr val="00A7C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1000" y="1222375"/>
              <a:ext cx="4191000" cy="14773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36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Predicts congestion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1000" y="2828925"/>
              <a:ext cx="4191000" cy="9848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400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Arrivals • utilisation • queue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086350" y="2905125"/>
            <a:ext cx="3714750" cy="3143250"/>
            <a:chOff x="0" y="0"/>
            <a:chExt cx="4953000" cy="419100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4953000" cy="4191000"/>
              <a:chOff x="0" y="0"/>
              <a:chExt cx="4953000" cy="41910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4953000" cy="4191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4191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E7F1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4953000" cy="422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/>
                <a:endParaRPr sz="2800"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381000" y="425451"/>
              <a:ext cx="4191000" cy="4103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000" b="1" spc="171">
                  <a:solidFill>
                    <a:srgbClr val="00A7C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OR-TOOLS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81000" y="1231900"/>
              <a:ext cx="4191000" cy="13131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32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Optimises operations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81000" y="2828925"/>
              <a:ext cx="4191000" cy="9848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400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Berths • cranes • constraints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182100" y="2905125"/>
            <a:ext cx="3714750" cy="3143250"/>
            <a:chOff x="0" y="0"/>
            <a:chExt cx="4953000" cy="4191000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4953000" cy="4191000"/>
              <a:chOff x="0" y="0"/>
              <a:chExt cx="4953000" cy="41910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4953000" cy="4191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4191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E7F1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4953000" cy="422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/>
                <a:endParaRPr sz="2800"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381000" y="425451"/>
              <a:ext cx="4191000" cy="4103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000" b="1" spc="171">
                  <a:solidFill>
                    <a:srgbClr val="00A7C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SIMULATION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81000" y="1222375"/>
              <a:ext cx="4191000" cy="14773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36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Calculates scenarios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1000" y="2828925"/>
              <a:ext cx="4191000" cy="9848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400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Failure • impact • recovery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3277850" y="2905125"/>
            <a:ext cx="3714750" cy="3143250"/>
            <a:chOff x="0" y="0"/>
            <a:chExt cx="4953000" cy="4191000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4953000" cy="4191000"/>
              <a:chOff x="0" y="0"/>
              <a:chExt cx="4953000" cy="41910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4953000" cy="4191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4191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4191000"/>
                    </a:lnTo>
                    <a:lnTo>
                      <a:pt x="0" y="4191000"/>
                    </a:lnTo>
                    <a:close/>
                  </a:path>
                </a:pathLst>
              </a:custGeom>
              <a:solidFill>
                <a:srgbClr val="071B3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4953000" cy="4229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/>
                <a:endParaRPr sz="2800"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381000" y="425451"/>
              <a:ext cx="4191000" cy="4103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000" b="1" spc="171">
                  <a:solidFill>
                    <a:srgbClr val="00A7C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GEMINI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81000" y="1222375"/>
              <a:ext cx="4191000" cy="14773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36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Explains &amp; compares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81000" y="2828925"/>
              <a:ext cx="4191000" cy="9848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4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Grounded operational context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285875" y="7086600"/>
            <a:ext cx="3619500" cy="492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3200" b="1">
                <a:solidFill>
                  <a:srgbClr val="10293F"/>
                </a:solidFill>
                <a:latin typeface="DM Sans Bold"/>
                <a:ea typeface="DM Sans Bold"/>
                <a:cs typeface="DM Sans Bold"/>
                <a:sym typeface="DM Sans Bold"/>
              </a:rPr>
              <a:t>B04 RISK  /  86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953000" y="6962775"/>
            <a:ext cx="11334750" cy="984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3200">
                <a:solidFill>
                  <a:srgbClr val="597084"/>
                </a:solidFill>
                <a:latin typeface="DM Sans"/>
                <a:ea typeface="DM Sans"/>
                <a:cs typeface="DM Sans"/>
                <a:sym typeface="DM Sans"/>
              </a:rPr>
              <a:t>Driven by vessel arrivals, berth utilisation, crane availability and yard pressure.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85875" y="8382000"/>
            <a:ext cx="15049500" cy="492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3200" b="1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Gemini explains the evidence. It does not predict or optimise.</a:t>
            </a:r>
          </a:p>
        </p:txBody>
      </p:sp>
      <p:sp>
        <p:nvSpPr>
          <p:cNvPr id="41" name="TextBox 22">
            <a:extLst>
              <a:ext uri="{FF2B5EF4-FFF2-40B4-BE49-F238E27FC236}">
                <a16:creationId xmlns:a16="http://schemas.microsoft.com/office/drawing/2014/main" id="{97F1BABF-8699-1B97-E38E-64CBA2EF9886}"/>
              </a:ext>
            </a:extLst>
          </p:cNvPr>
          <p:cNvSpPr txBox="1"/>
          <p:nvPr/>
        </p:nvSpPr>
        <p:spPr>
          <a:xfrm>
            <a:off x="990600" y="9667875"/>
            <a:ext cx="4762500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b="1" spc="144" dirty="0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PortsPilot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0600" y="590550"/>
            <a:ext cx="11430000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b="1" spc="162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OR-TOOLS OPERATIONS OPTIMISER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90600" y="1076325"/>
            <a:ext cx="14287500" cy="830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5400" b="1">
                <a:solidFill>
                  <a:srgbClr val="10293F"/>
                </a:solidFill>
                <a:latin typeface="DM Sans Bold"/>
                <a:ea typeface="DM Sans Bold"/>
                <a:cs typeface="DM Sans Bold"/>
                <a:sym typeface="DM Sans Bold"/>
              </a:rPr>
              <a:t>Turn prediction into operational decisions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649700" y="438150"/>
            <a:ext cx="647700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lang="en-US" sz="2400">
                <a:solidFill>
                  <a:srgbClr val="597084"/>
                </a:solidFill>
                <a:latin typeface="DM Sans"/>
                <a:ea typeface="DM Sans"/>
                <a:cs typeface="DM Sans"/>
                <a:sym typeface="DM Sans"/>
              </a:rPr>
              <a:t>08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0600" y="2857500"/>
            <a:ext cx="7677150" cy="5334000"/>
            <a:chOff x="0" y="0"/>
            <a:chExt cx="10236200" cy="7112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0236200" cy="7112000"/>
              <a:chOff x="0" y="0"/>
              <a:chExt cx="10236200" cy="7112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0236200" cy="7112000"/>
              </a:xfrm>
              <a:custGeom>
                <a:avLst/>
                <a:gdLst/>
                <a:ahLst/>
                <a:cxnLst/>
                <a:rect l="l" t="t" r="r" b="b"/>
                <a:pathLst>
                  <a:path w="10236200" h="7112000">
                    <a:moveTo>
                      <a:pt x="0" y="0"/>
                    </a:moveTo>
                    <a:lnTo>
                      <a:pt x="10236200" y="0"/>
                    </a:lnTo>
                    <a:lnTo>
                      <a:pt x="10236200" y="7112000"/>
                    </a:lnTo>
                    <a:lnTo>
                      <a:pt x="0" y="7112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0236200" cy="715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/>
                <a:endParaRPr sz="2800"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609600" y="514351"/>
              <a:ext cx="8890000" cy="369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b="1" spc="162">
                  <a:solidFill>
                    <a:srgbClr val="00A7C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BEFORE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9600" y="1257300"/>
              <a:ext cx="8890000" cy="9028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44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OCEAN STAR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9600" y="2755900"/>
              <a:ext cx="8890000" cy="7386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36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BERTH  B04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9600" y="3898900"/>
              <a:ext cx="8890000" cy="7386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36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CRANES  3 cranes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9600" y="5257800"/>
              <a:ext cx="8890000" cy="9028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4400" b="1">
                  <a:solidFill>
                    <a:srgbClr val="EF835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11.4h avg wait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620250" y="2857500"/>
            <a:ext cx="7677150" cy="5334000"/>
            <a:chOff x="0" y="0"/>
            <a:chExt cx="10236200" cy="7112000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10236200" cy="7112000"/>
              <a:chOff x="0" y="0"/>
              <a:chExt cx="10236200" cy="7112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10236200" cy="7112000"/>
              </a:xfrm>
              <a:custGeom>
                <a:avLst/>
                <a:gdLst/>
                <a:ahLst/>
                <a:cxnLst/>
                <a:rect l="l" t="t" r="r" b="b"/>
                <a:pathLst>
                  <a:path w="10236200" h="7112000">
                    <a:moveTo>
                      <a:pt x="0" y="0"/>
                    </a:moveTo>
                    <a:lnTo>
                      <a:pt x="10236200" y="0"/>
                    </a:lnTo>
                    <a:lnTo>
                      <a:pt x="10236200" y="7112000"/>
                    </a:lnTo>
                    <a:lnTo>
                      <a:pt x="0" y="7112000"/>
                    </a:lnTo>
                    <a:close/>
                  </a:path>
                </a:pathLst>
              </a:custGeom>
              <a:solidFill>
                <a:srgbClr val="071B3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10236200" cy="715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/>
                <a:endParaRPr sz="2800"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609600" y="514351"/>
              <a:ext cx="8890000" cy="369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b="1" spc="162">
                  <a:solidFill>
                    <a:srgbClr val="00A7C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AFTER / RECOMMENDED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9600" y="1257300"/>
              <a:ext cx="8890000" cy="9028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44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OCEAN STAR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9600" y="2755900"/>
              <a:ext cx="8890000" cy="7386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36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BERTH  B02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9600" y="3898900"/>
              <a:ext cx="8890000" cy="7386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36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CRANES  4 cranes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9600" y="5257800"/>
              <a:ext cx="8890000" cy="9028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4400" b="1">
                  <a:solidFill>
                    <a:srgbClr val="16B3A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6.8h avg wait</a:t>
              </a:r>
            </a:p>
          </p:txBody>
        </p:sp>
      </p:grpSp>
      <p:sp>
        <p:nvSpPr>
          <p:cNvPr id="26" name="AutoShape 26"/>
          <p:cNvSpPr/>
          <p:nvPr/>
        </p:nvSpPr>
        <p:spPr>
          <a:xfrm>
            <a:off x="8810625" y="5524500"/>
            <a:ext cx="666750" cy="0"/>
          </a:xfrm>
          <a:prstGeom prst="line">
            <a:avLst/>
          </a:prstGeom>
          <a:ln w="47625" cap="rnd">
            <a:solidFill>
              <a:srgbClr val="00A7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Box 27"/>
          <p:cNvSpPr txBox="1"/>
          <p:nvPr/>
        </p:nvSpPr>
        <p:spPr>
          <a:xfrm>
            <a:off x="5381625" y="8686800"/>
            <a:ext cx="7524750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2400" b="1" spc="198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Constraint-aware suggestion — operator approval required</a:t>
            </a:r>
          </a:p>
        </p:txBody>
      </p:sp>
      <p:sp>
        <p:nvSpPr>
          <p:cNvPr id="30" name="TextBox 22">
            <a:extLst>
              <a:ext uri="{FF2B5EF4-FFF2-40B4-BE49-F238E27FC236}">
                <a16:creationId xmlns:a16="http://schemas.microsoft.com/office/drawing/2014/main" id="{3D2A9BB6-E686-D738-E44A-A23ECDEB8501}"/>
              </a:ext>
            </a:extLst>
          </p:cNvPr>
          <p:cNvSpPr txBox="1"/>
          <p:nvPr/>
        </p:nvSpPr>
        <p:spPr>
          <a:xfrm>
            <a:off x="990600" y="9667875"/>
            <a:ext cx="4762500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b="1" spc="144" dirty="0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PortsPilot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0600" y="590550"/>
            <a:ext cx="11430000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b="1" spc="162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WHAT-IF SIMULATION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90600" y="1076325"/>
            <a:ext cx="14287500" cy="830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5400" b="1">
                <a:solidFill>
                  <a:srgbClr val="10293F"/>
                </a:solidFill>
                <a:latin typeface="DM Sans Bold"/>
                <a:ea typeface="DM Sans Bold"/>
                <a:cs typeface="DM Sans Bold"/>
                <a:sym typeface="DM Sans Bold"/>
              </a:rPr>
              <a:t>What happens if something breaks?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649700" y="438150"/>
            <a:ext cx="647700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lang="en-US" sz="2400">
                <a:solidFill>
                  <a:srgbClr val="597084"/>
                </a:solidFill>
                <a:latin typeface="DM Sans"/>
                <a:ea typeface="DM Sans"/>
                <a:cs typeface="DM Sans"/>
                <a:sym typeface="DM Sans"/>
              </a:rPr>
              <a:t>09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0600" y="3143250"/>
            <a:ext cx="3714750" cy="4000500"/>
            <a:chOff x="0" y="0"/>
            <a:chExt cx="4953000" cy="5334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4953000" cy="5334000"/>
              <a:chOff x="0" y="0"/>
              <a:chExt cx="4953000" cy="5334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953000" cy="5334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5334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E7F1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953000" cy="537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/>
                <a:endParaRPr sz="2800"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55600" y="425451"/>
              <a:ext cx="4191000" cy="369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b="1" spc="162">
                  <a:solidFill>
                    <a:srgbClr val="00A7C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BASELINE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55600" y="1349375"/>
              <a:ext cx="4191000" cy="8207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40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7 vessels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5600" y="2565400"/>
              <a:ext cx="4191000" cy="6565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3200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11.4h wait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5600" y="3517900"/>
              <a:ext cx="4191000" cy="6565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3200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82% B04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>
            <a:off x="4743450" y="5143500"/>
            <a:ext cx="247650" cy="0"/>
          </a:xfrm>
          <a:prstGeom prst="line">
            <a:avLst/>
          </a:prstGeom>
          <a:ln w="38100" cap="flat">
            <a:solidFill>
              <a:srgbClr val="00A7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17" name="Group 17"/>
          <p:cNvGrpSpPr/>
          <p:nvPr/>
        </p:nvGrpSpPr>
        <p:grpSpPr>
          <a:xfrm>
            <a:off x="5086350" y="3143250"/>
            <a:ext cx="3714750" cy="4000500"/>
            <a:chOff x="0" y="0"/>
            <a:chExt cx="4953000" cy="5334000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4953000" cy="5334000"/>
              <a:chOff x="0" y="0"/>
              <a:chExt cx="4953000" cy="5334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4953000" cy="5334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5334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FFF1EC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4953000" cy="537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/>
                <a:endParaRPr sz="2800"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355600" y="425451"/>
              <a:ext cx="4191000" cy="369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b="1" spc="162">
                  <a:solidFill>
                    <a:srgbClr val="00A7C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FAILURE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5600" y="1349375"/>
              <a:ext cx="4191000" cy="8207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40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C03 offline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5600" y="2565400"/>
              <a:ext cx="4191000" cy="6565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3200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8 hours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5600" y="3517900"/>
              <a:ext cx="4191000" cy="6565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3200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capacity lost</a:t>
              </a:r>
            </a:p>
          </p:txBody>
        </p:sp>
      </p:grpSp>
      <p:sp>
        <p:nvSpPr>
          <p:cNvPr id="25" name="AutoShape 25"/>
          <p:cNvSpPr/>
          <p:nvPr/>
        </p:nvSpPr>
        <p:spPr>
          <a:xfrm>
            <a:off x="8839200" y="5143500"/>
            <a:ext cx="247650" cy="0"/>
          </a:xfrm>
          <a:prstGeom prst="line">
            <a:avLst/>
          </a:prstGeom>
          <a:ln w="38100" cap="flat">
            <a:solidFill>
              <a:srgbClr val="00A7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6" name="Group 26"/>
          <p:cNvGrpSpPr/>
          <p:nvPr/>
        </p:nvGrpSpPr>
        <p:grpSpPr>
          <a:xfrm>
            <a:off x="9182100" y="3143250"/>
            <a:ext cx="3714750" cy="4000500"/>
            <a:chOff x="0" y="0"/>
            <a:chExt cx="4953000" cy="5334000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4953000" cy="5334000"/>
              <a:chOff x="0" y="0"/>
              <a:chExt cx="4953000" cy="53340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4953000" cy="5334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5334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E7F1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0" y="-38100"/>
                <a:ext cx="4953000" cy="537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/>
                <a:endParaRPr sz="2800"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355600" y="425451"/>
              <a:ext cx="4191000" cy="369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b="1" spc="162">
                  <a:solidFill>
                    <a:srgbClr val="00A7C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IMPACT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5600" y="1349375"/>
              <a:ext cx="4191000" cy="8207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40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11 vessels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5600" y="2565400"/>
              <a:ext cx="4191000" cy="6565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3200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17.8h wait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55600" y="3517900"/>
              <a:ext cx="4191000" cy="6565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3200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94% B04</a:t>
              </a:r>
            </a:p>
          </p:txBody>
        </p:sp>
      </p:grpSp>
      <p:sp>
        <p:nvSpPr>
          <p:cNvPr id="34" name="AutoShape 34"/>
          <p:cNvSpPr/>
          <p:nvPr/>
        </p:nvSpPr>
        <p:spPr>
          <a:xfrm>
            <a:off x="12934950" y="5143500"/>
            <a:ext cx="247650" cy="0"/>
          </a:xfrm>
          <a:prstGeom prst="line">
            <a:avLst/>
          </a:prstGeom>
          <a:ln w="38100" cap="flat">
            <a:solidFill>
              <a:srgbClr val="00A7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3277850" y="3143250"/>
            <a:ext cx="3714750" cy="4000500"/>
            <a:chOff x="0" y="0"/>
            <a:chExt cx="4953000" cy="5334000"/>
          </a:xfrm>
        </p:grpSpPr>
        <p:grpSp>
          <p:nvGrpSpPr>
            <p:cNvPr id="36" name="Group 36"/>
            <p:cNvGrpSpPr/>
            <p:nvPr/>
          </p:nvGrpSpPr>
          <p:grpSpPr>
            <a:xfrm>
              <a:off x="0" y="0"/>
              <a:ext cx="4953000" cy="5334000"/>
              <a:chOff x="0" y="0"/>
              <a:chExt cx="4953000" cy="53340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4953000" cy="53340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5334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071B3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-38100"/>
                <a:ext cx="4953000" cy="5372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/>
                <a:endParaRPr sz="2800"/>
              </a:p>
            </p:txBody>
          </p:sp>
        </p:grpSp>
        <p:sp>
          <p:nvSpPr>
            <p:cNvPr id="39" name="TextBox 39"/>
            <p:cNvSpPr txBox="1"/>
            <p:nvPr/>
          </p:nvSpPr>
          <p:spPr>
            <a:xfrm>
              <a:off x="355600" y="425451"/>
              <a:ext cx="4191000" cy="369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b="1" spc="162">
                  <a:solidFill>
                    <a:srgbClr val="00A7C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RECOVERY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55600" y="1349375"/>
              <a:ext cx="4191000" cy="8207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40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Move C05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55600" y="2565400"/>
              <a:ext cx="4191000" cy="13131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32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Ocean Star → B02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55600" y="4042409"/>
              <a:ext cx="4191000" cy="6565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3200" dirty="0">
                  <a:solidFill>
                    <a:srgbClr val="16B3A3"/>
                  </a:solidFill>
                  <a:latin typeface="DM Sans"/>
                  <a:ea typeface="DM Sans"/>
                  <a:cs typeface="DM Sans"/>
                  <a:sym typeface="DM Sans"/>
                </a:rPr>
                <a:t>12.1h wait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809750" y="8020050"/>
            <a:ext cx="14668500" cy="861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2800">
                <a:solidFill>
                  <a:srgbClr val="597084"/>
                </a:solidFill>
                <a:latin typeface="DM Sans"/>
                <a:ea typeface="DM Sans"/>
                <a:cs typeface="DM Sans"/>
                <a:sym typeface="DM Sans"/>
              </a:rPr>
              <a:t>RECOVERY ACTIONS  /  Move C05 to B04  •  Reassign Ocean Star  •  Delay low-priority vessel</a:t>
            </a:r>
          </a:p>
        </p:txBody>
      </p:sp>
      <p:sp>
        <p:nvSpPr>
          <p:cNvPr id="46" name="TextBox 22">
            <a:extLst>
              <a:ext uri="{FF2B5EF4-FFF2-40B4-BE49-F238E27FC236}">
                <a16:creationId xmlns:a16="http://schemas.microsoft.com/office/drawing/2014/main" id="{8DC8FFA5-FD4E-1C09-0780-DE5E0504E775}"/>
              </a:ext>
            </a:extLst>
          </p:cNvPr>
          <p:cNvSpPr txBox="1"/>
          <p:nvPr/>
        </p:nvSpPr>
        <p:spPr>
          <a:xfrm>
            <a:off x="990600" y="9667875"/>
            <a:ext cx="4762500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b="1" spc="144" dirty="0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PortsPilot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0600" y="590550"/>
            <a:ext cx="11430000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b="1" spc="162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72-HOUR PLANNER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90600" y="1076325"/>
            <a:ext cx="14287500" cy="830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5400" b="1">
                <a:solidFill>
                  <a:srgbClr val="10293F"/>
                </a:solidFill>
                <a:latin typeface="DM Sans Bold"/>
                <a:ea typeface="DM Sans Bold"/>
                <a:cs typeface="DM Sans Bold"/>
                <a:sym typeface="DM Sans Bold"/>
              </a:rPr>
              <a:t>Don’t just react. Plan the next 72 hours.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649700" y="438150"/>
            <a:ext cx="647700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lang="en-US" sz="2400">
                <a:solidFill>
                  <a:srgbClr val="597084"/>
                </a:solidFill>
                <a:latin typeface="DM Sans"/>
                <a:ea typeface="DM Sans"/>
                <a:cs typeface="DM Sans"/>
                <a:sym typeface="DM Sans"/>
              </a:rPr>
              <a:t>10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3905250" y="3095625"/>
            <a:ext cx="2171700" cy="514350"/>
            <a:chOff x="0" y="0"/>
            <a:chExt cx="2895600" cy="685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95600" cy="685800"/>
            </a:xfrm>
            <a:custGeom>
              <a:avLst/>
              <a:gdLst/>
              <a:ahLst/>
              <a:cxnLst/>
              <a:rect l="l" t="t" r="r" b="b"/>
              <a:pathLst>
                <a:path w="2895600" h="685800">
                  <a:moveTo>
                    <a:pt x="0" y="0"/>
                  </a:moveTo>
                  <a:lnTo>
                    <a:pt x="2895600" y="0"/>
                  </a:lnTo>
                  <a:lnTo>
                    <a:pt x="2895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071B3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8956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/>
              <a:endParaRPr sz="2800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905250" y="3200400"/>
            <a:ext cx="2171700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06–14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096000" y="3095625"/>
            <a:ext cx="2171700" cy="514350"/>
            <a:chOff x="0" y="0"/>
            <a:chExt cx="2895600" cy="685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95600" cy="685800"/>
            </a:xfrm>
            <a:custGeom>
              <a:avLst/>
              <a:gdLst/>
              <a:ahLst/>
              <a:cxnLst/>
              <a:rect l="l" t="t" r="r" b="b"/>
              <a:pathLst>
                <a:path w="2895600" h="685800">
                  <a:moveTo>
                    <a:pt x="0" y="0"/>
                  </a:moveTo>
                  <a:lnTo>
                    <a:pt x="2895600" y="0"/>
                  </a:lnTo>
                  <a:lnTo>
                    <a:pt x="2895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071B3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8956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/>
              <a:endParaRPr sz="2800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096000" y="3200400"/>
            <a:ext cx="2171700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14–22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286750" y="3095625"/>
            <a:ext cx="2171700" cy="514350"/>
            <a:chOff x="0" y="0"/>
            <a:chExt cx="2895600" cy="685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895600" cy="685800"/>
            </a:xfrm>
            <a:custGeom>
              <a:avLst/>
              <a:gdLst/>
              <a:ahLst/>
              <a:cxnLst/>
              <a:rect l="l" t="t" r="r" b="b"/>
              <a:pathLst>
                <a:path w="2895600" h="685800">
                  <a:moveTo>
                    <a:pt x="0" y="0"/>
                  </a:moveTo>
                  <a:lnTo>
                    <a:pt x="2895600" y="0"/>
                  </a:lnTo>
                  <a:lnTo>
                    <a:pt x="2895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071B3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8956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/>
              <a:endParaRPr sz="2800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8286750" y="3200400"/>
            <a:ext cx="2171700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22–06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0477500" y="3095625"/>
            <a:ext cx="2171700" cy="514350"/>
            <a:chOff x="0" y="0"/>
            <a:chExt cx="2895600" cy="685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895600" cy="685800"/>
            </a:xfrm>
            <a:custGeom>
              <a:avLst/>
              <a:gdLst/>
              <a:ahLst/>
              <a:cxnLst/>
              <a:rect l="l" t="t" r="r" b="b"/>
              <a:pathLst>
                <a:path w="2895600" h="685800">
                  <a:moveTo>
                    <a:pt x="0" y="0"/>
                  </a:moveTo>
                  <a:lnTo>
                    <a:pt x="2895600" y="0"/>
                  </a:lnTo>
                  <a:lnTo>
                    <a:pt x="2895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0B3B6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28956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/>
              <a:endParaRPr sz="2800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477500" y="3200400"/>
            <a:ext cx="2171700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06–14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668250" y="3095625"/>
            <a:ext cx="2171700" cy="514350"/>
            <a:chOff x="0" y="0"/>
            <a:chExt cx="2895600" cy="685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895600" cy="685800"/>
            </a:xfrm>
            <a:custGeom>
              <a:avLst/>
              <a:gdLst/>
              <a:ahLst/>
              <a:cxnLst/>
              <a:rect l="l" t="t" r="r" b="b"/>
              <a:pathLst>
                <a:path w="2895600" h="685800">
                  <a:moveTo>
                    <a:pt x="0" y="0"/>
                  </a:moveTo>
                  <a:lnTo>
                    <a:pt x="2895600" y="0"/>
                  </a:lnTo>
                  <a:lnTo>
                    <a:pt x="2895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0B3B6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28956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/>
              <a:endParaRPr sz="2800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2668250" y="3200400"/>
            <a:ext cx="2171700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14–22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4859000" y="3095625"/>
            <a:ext cx="2171700" cy="514350"/>
            <a:chOff x="0" y="0"/>
            <a:chExt cx="2895600" cy="685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895600" cy="685800"/>
            </a:xfrm>
            <a:custGeom>
              <a:avLst/>
              <a:gdLst/>
              <a:ahLst/>
              <a:cxnLst/>
              <a:rect l="l" t="t" r="r" b="b"/>
              <a:pathLst>
                <a:path w="2895600" h="685800">
                  <a:moveTo>
                    <a:pt x="0" y="0"/>
                  </a:moveTo>
                  <a:lnTo>
                    <a:pt x="2895600" y="0"/>
                  </a:lnTo>
                  <a:lnTo>
                    <a:pt x="289560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0B3B6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2895600" cy="723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/>
              <a:endParaRPr sz="2800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4859000" y="3200400"/>
            <a:ext cx="2171700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22–06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90600" y="4067175"/>
            <a:ext cx="2476500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000" b="1" spc="179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BERTH B04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3905250" y="3857625"/>
            <a:ext cx="2171700" cy="742950"/>
            <a:chOff x="0" y="0"/>
            <a:chExt cx="2895600" cy="9906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895600" cy="990600"/>
            </a:xfrm>
            <a:custGeom>
              <a:avLst/>
              <a:gdLst/>
              <a:ahLst/>
              <a:cxnLst/>
              <a:rect l="l" t="t" r="r" b="b"/>
              <a:pathLst>
                <a:path w="2895600" h="990600">
                  <a:moveTo>
                    <a:pt x="0" y="0"/>
                  </a:moveTo>
                  <a:lnTo>
                    <a:pt x="2895600" y="0"/>
                  </a:lnTo>
                  <a:lnTo>
                    <a:pt x="28956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D9EDF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2895600" cy="1028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/>
              <a:endParaRPr sz="2800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96000" y="3857625"/>
            <a:ext cx="2171700" cy="742950"/>
            <a:chOff x="0" y="0"/>
            <a:chExt cx="2895600" cy="9906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895600" cy="990600"/>
            </a:xfrm>
            <a:custGeom>
              <a:avLst/>
              <a:gdLst/>
              <a:ahLst/>
              <a:cxnLst/>
              <a:rect l="l" t="t" r="r" b="b"/>
              <a:pathLst>
                <a:path w="2895600" h="990600">
                  <a:moveTo>
                    <a:pt x="0" y="0"/>
                  </a:moveTo>
                  <a:lnTo>
                    <a:pt x="2895600" y="0"/>
                  </a:lnTo>
                  <a:lnTo>
                    <a:pt x="28956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2895600" cy="1028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/>
              <a:endParaRPr sz="2800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286750" y="3857625"/>
            <a:ext cx="2171700" cy="742950"/>
            <a:chOff x="0" y="0"/>
            <a:chExt cx="2895600" cy="9906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895600" cy="990600"/>
            </a:xfrm>
            <a:custGeom>
              <a:avLst/>
              <a:gdLst/>
              <a:ahLst/>
              <a:cxnLst/>
              <a:rect l="l" t="t" r="r" b="b"/>
              <a:pathLst>
                <a:path w="2895600" h="990600">
                  <a:moveTo>
                    <a:pt x="0" y="0"/>
                  </a:moveTo>
                  <a:lnTo>
                    <a:pt x="2895600" y="0"/>
                  </a:lnTo>
                  <a:lnTo>
                    <a:pt x="28956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2895600" cy="1028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/>
              <a:endParaRPr sz="2800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477500" y="3857625"/>
            <a:ext cx="2171700" cy="742950"/>
            <a:chOff x="0" y="0"/>
            <a:chExt cx="2895600" cy="9906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895600" cy="990600"/>
            </a:xfrm>
            <a:custGeom>
              <a:avLst/>
              <a:gdLst/>
              <a:ahLst/>
              <a:cxnLst/>
              <a:rect l="l" t="t" r="r" b="b"/>
              <a:pathLst>
                <a:path w="2895600" h="990600">
                  <a:moveTo>
                    <a:pt x="0" y="0"/>
                  </a:moveTo>
                  <a:lnTo>
                    <a:pt x="2895600" y="0"/>
                  </a:lnTo>
                  <a:lnTo>
                    <a:pt x="28956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D9EDF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2895600" cy="1028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/>
              <a:endParaRPr sz="2800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2668250" y="3857625"/>
            <a:ext cx="2171700" cy="742950"/>
            <a:chOff x="0" y="0"/>
            <a:chExt cx="2895600" cy="9906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895600" cy="990600"/>
            </a:xfrm>
            <a:custGeom>
              <a:avLst/>
              <a:gdLst/>
              <a:ahLst/>
              <a:cxnLst/>
              <a:rect l="l" t="t" r="r" b="b"/>
              <a:pathLst>
                <a:path w="2895600" h="990600">
                  <a:moveTo>
                    <a:pt x="0" y="0"/>
                  </a:moveTo>
                  <a:lnTo>
                    <a:pt x="2895600" y="0"/>
                  </a:lnTo>
                  <a:lnTo>
                    <a:pt x="28956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2895600" cy="1028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/>
              <a:endParaRPr sz="2800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4859000" y="3857625"/>
            <a:ext cx="2171700" cy="742950"/>
            <a:chOff x="0" y="0"/>
            <a:chExt cx="2895600" cy="9906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895600" cy="990600"/>
            </a:xfrm>
            <a:custGeom>
              <a:avLst/>
              <a:gdLst/>
              <a:ahLst/>
              <a:cxnLst/>
              <a:rect l="l" t="t" r="r" b="b"/>
              <a:pathLst>
                <a:path w="2895600" h="990600">
                  <a:moveTo>
                    <a:pt x="0" y="0"/>
                  </a:moveTo>
                  <a:lnTo>
                    <a:pt x="2895600" y="0"/>
                  </a:lnTo>
                  <a:lnTo>
                    <a:pt x="28956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2895600" cy="1028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/>
              <a:endParaRPr sz="2800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019550" y="4019550"/>
            <a:ext cx="1943100" cy="419100"/>
            <a:chOff x="0" y="0"/>
            <a:chExt cx="2590800" cy="5588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590800" cy="558800"/>
            </a:xfrm>
            <a:custGeom>
              <a:avLst/>
              <a:gdLst/>
              <a:ahLst/>
              <a:cxnLst/>
              <a:rect l="l" t="t" r="r" b="b"/>
              <a:pathLst>
                <a:path w="2590800" h="558800">
                  <a:moveTo>
                    <a:pt x="0" y="0"/>
                  </a:moveTo>
                  <a:lnTo>
                    <a:pt x="2590800" y="0"/>
                  </a:lnTo>
                  <a:lnTo>
                    <a:pt x="25908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00A7C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38100"/>
              <a:ext cx="2590800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/>
              <a:endParaRPr sz="2800"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990600" y="5000625"/>
            <a:ext cx="2476500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000" b="1" spc="179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OCEAN STAR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3905250" y="4791075"/>
            <a:ext cx="2171700" cy="742950"/>
            <a:chOff x="0" y="0"/>
            <a:chExt cx="2895600" cy="99060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895600" cy="990600"/>
            </a:xfrm>
            <a:custGeom>
              <a:avLst/>
              <a:gdLst/>
              <a:ahLst/>
              <a:cxnLst/>
              <a:rect l="l" t="t" r="r" b="b"/>
              <a:pathLst>
                <a:path w="2895600" h="990600">
                  <a:moveTo>
                    <a:pt x="0" y="0"/>
                  </a:moveTo>
                  <a:lnTo>
                    <a:pt x="2895600" y="0"/>
                  </a:lnTo>
                  <a:lnTo>
                    <a:pt x="28956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2895600" cy="1028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/>
              <a:endParaRPr sz="2800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096000" y="4791075"/>
            <a:ext cx="2171700" cy="742950"/>
            <a:chOff x="0" y="0"/>
            <a:chExt cx="2895600" cy="9906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895600" cy="990600"/>
            </a:xfrm>
            <a:custGeom>
              <a:avLst/>
              <a:gdLst/>
              <a:ahLst/>
              <a:cxnLst/>
              <a:rect l="l" t="t" r="r" b="b"/>
              <a:pathLst>
                <a:path w="2895600" h="990600">
                  <a:moveTo>
                    <a:pt x="0" y="0"/>
                  </a:moveTo>
                  <a:lnTo>
                    <a:pt x="2895600" y="0"/>
                  </a:lnTo>
                  <a:lnTo>
                    <a:pt x="28956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2895600" cy="1028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/>
              <a:endParaRPr sz="2800"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8286750" y="4791075"/>
            <a:ext cx="2171700" cy="742950"/>
            <a:chOff x="0" y="0"/>
            <a:chExt cx="2895600" cy="9906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895600" cy="990600"/>
            </a:xfrm>
            <a:custGeom>
              <a:avLst/>
              <a:gdLst/>
              <a:ahLst/>
              <a:cxnLst/>
              <a:rect l="l" t="t" r="r" b="b"/>
              <a:pathLst>
                <a:path w="2895600" h="990600">
                  <a:moveTo>
                    <a:pt x="0" y="0"/>
                  </a:moveTo>
                  <a:lnTo>
                    <a:pt x="2895600" y="0"/>
                  </a:lnTo>
                  <a:lnTo>
                    <a:pt x="28956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D9EDF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38100"/>
              <a:ext cx="2895600" cy="1028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/>
              <a:endParaRPr sz="2800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0477500" y="4791075"/>
            <a:ext cx="2171700" cy="742950"/>
            <a:chOff x="0" y="0"/>
            <a:chExt cx="2895600" cy="9906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895600" cy="990600"/>
            </a:xfrm>
            <a:custGeom>
              <a:avLst/>
              <a:gdLst/>
              <a:ahLst/>
              <a:cxnLst/>
              <a:rect l="l" t="t" r="r" b="b"/>
              <a:pathLst>
                <a:path w="2895600" h="990600">
                  <a:moveTo>
                    <a:pt x="0" y="0"/>
                  </a:moveTo>
                  <a:lnTo>
                    <a:pt x="2895600" y="0"/>
                  </a:lnTo>
                  <a:lnTo>
                    <a:pt x="28956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38100"/>
              <a:ext cx="2895600" cy="1028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/>
              <a:endParaRPr sz="2800"/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2668250" y="4791075"/>
            <a:ext cx="2171700" cy="742950"/>
            <a:chOff x="0" y="0"/>
            <a:chExt cx="2895600" cy="99060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2895600" cy="990600"/>
            </a:xfrm>
            <a:custGeom>
              <a:avLst/>
              <a:gdLst/>
              <a:ahLst/>
              <a:cxnLst/>
              <a:rect l="l" t="t" r="r" b="b"/>
              <a:pathLst>
                <a:path w="2895600" h="990600">
                  <a:moveTo>
                    <a:pt x="0" y="0"/>
                  </a:moveTo>
                  <a:lnTo>
                    <a:pt x="2895600" y="0"/>
                  </a:lnTo>
                  <a:lnTo>
                    <a:pt x="28956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38100"/>
              <a:ext cx="2895600" cy="1028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/>
              <a:endParaRPr sz="2800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4859000" y="4791075"/>
            <a:ext cx="2171700" cy="742950"/>
            <a:chOff x="0" y="0"/>
            <a:chExt cx="2895600" cy="99060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2895600" cy="990600"/>
            </a:xfrm>
            <a:custGeom>
              <a:avLst/>
              <a:gdLst/>
              <a:ahLst/>
              <a:cxnLst/>
              <a:rect l="l" t="t" r="r" b="b"/>
              <a:pathLst>
                <a:path w="2895600" h="990600">
                  <a:moveTo>
                    <a:pt x="0" y="0"/>
                  </a:moveTo>
                  <a:lnTo>
                    <a:pt x="2895600" y="0"/>
                  </a:lnTo>
                  <a:lnTo>
                    <a:pt x="28956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D9EDF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-38100"/>
              <a:ext cx="2895600" cy="1028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/>
              <a:endParaRPr sz="2800"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8401050" y="4953000"/>
            <a:ext cx="1943100" cy="419100"/>
            <a:chOff x="0" y="0"/>
            <a:chExt cx="2590800" cy="55880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2590800" cy="558800"/>
            </a:xfrm>
            <a:custGeom>
              <a:avLst/>
              <a:gdLst/>
              <a:ahLst/>
              <a:cxnLst/>
              <a:rect l="l" t="t" r="r" b="b"/>
              <a:pathLst>
                <a:path w="2590800" h="558800">
                  <a:moveTo>
                    <a:pt x="0" y="0"/>
                  </a:moveTo>
                  <a:lnTo>
                    <a:pt x="2590800" y="0"/>
                  </a:lnTo>
                  <a:lnTo>
                    <a:pt x="25908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00A7C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38100"/>
              <a:ext cx="2590800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/>
              <a:endParaRPr sz="2800"/>
            </a:p>
          </p:txBody>
        </p:sp>
      </p:grpSp>
      <p:sp>
        <p:nvSpPr>
          <p:cNvPr id="76" name="TextBox 76"/>
          <p:cNvSpPr txBox="1"/>
          <p:nvPr/>
        </p:nvSpPr>
        <p:spPr>
          <a:xfrm>
            <a:off x="990600" y="5934075"/>
            <a:ext cx="2476500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000" b="1" spc="179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CRANE C05</a:t>
            </a:r>
          </a:p>
        </p:txBody>
      </p:sp>
      <p:grpSp>
        <p:nvGrpSpPr>
          <p:cNvPr id="77" name="Group 77"/>
          <p:cNvGrpSpPr/>
          <p:nvPr/>
        </p:nvGrpSpPr>
        <p:grpSpPr>
          <a:xfrm>
            <a:off x="3905250" y="5724525"/>
            <a:ext cx="2171700" cy="742950"/>
            <a:chOff x="0" y="0"/>
            <a:chExt cx="2895600" cy="99060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2895600" cy="990600"/>
            </a:xfrm>
            <a:custGeom>
              <a:avLst/>
              <a:gdLst/>
              <a:ahLst/>
              <a:cxnLst/>
              <a:rect l="l" t="t" r="r" b="b"/>
              <a:pathLst>
                <a:path w="2895600" h="990600">
                  <a:moveTo>
                    <a:pt x="0" y="0"/>
                  </a:moveTo>
                  <a:lnTo>
                    <a:pt x="2895600" y="0"/>
                  </a:lnTo>
                  <a:lnTo>
                    <a:pt x="28956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2895600" cy="1028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/>
              <a:endParaRPr sz="2800"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6096000" y="5724525"/>
            <a:ext cx="2171700" cy="742950"/>
            <a:chOff x="0" y="0"/>
            <a:chExt cx="2895600" cy="99060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2895600" cy="990600"/>
            </a:xfrm>
            <a:custGeom>
              <a:avLst/>
              <a:gdLst/>
              <a:ahLst/>
              <a:cxnLst/>
              <a:rect l="l" t="t" r="r" b="b"/>
              <a:pathLst>
                <a:path w="2895600" h="990600">
                  <a:moveTo>
                    <a:pt x="0" y="0"/>
                  </a:moveTo>
                  <a:lnTo>
                    <a:pt x="2895600" y="0"/>
                  </a:lnTo>
                  <a:lnTo>
                    <a:pt x="28956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D9EDF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0" y="-38100"/>
              <a:ext cx="2895600" cy="1028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/>
              <a:endParaRPr sz="2800"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8286750" y="5724525"/>
            <a:ext cx="2171700" cy="742950"/>
            <a:chOff x="0" y="0"/>
            <a:chExt cx="2895600" cy="99060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2895600" cy="990600"/>
            </a:xfrm>
            <a:custGeom>
              <a:avLst/>
              <a:gdLst/>
              <a:ahLst/>
              <a:cxnLst/>
              <a:rect l="l" t="t" r="r" b="b"/>
              <a:pathLst>
                <a:path w="2895600" h="990600">
                  <a:moveTo>
                    <a:pt x="0" y="0"/>
                  </a:moveTo>
                  <a:lnTo>
                    <a:pt x="2895600" y="0"/>
                  </a:lnTo>
                  <a:lnTo>
                    <a:pt x="28956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-38100"/>
              <a:ext cx="2895600" cy="1028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/>
              <a:endParaRPr sz="2800"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0477500" y="5724525"/>
            <a:ext cx="2171700" cy="742950"/>
            <a:chOff x="0" y="0"/>
            <a:chExt cx="2895600" cy="99060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2895600" cy="990600"/>
            </a:xfrm>
            <a:custGeom>
              <a:avLst/>
              <a:gdLst/>
              <a:ahLst/>
              <a:cxnLst/>
              <a:rect l="l" t="t" r="r" b="b"/>
              <a:pathLst>
                <a:path w="2895600" h="990600">
                  <a:moveTo>
                    <a:pt x="0" y="0"/>
                  </a:moveTo>
                  <a:lnTo>
                    <a:pt x="2895600" y="0"/>
                  </a:lnTo>
                  <a:lnTo>
                    <a:pt x="28956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2895600" cy="1028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/>
              <a:endParaRPr sz="2800"/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2668250" y="5724525"/>
            <a:ext cx="2171700" cy="742950"/>
            <a:chOff x="0" y="0"/>
            <a:chExt cx="2895600" cy="99060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2895600" cy="990600"/>
            </a:xfrm>
            <a:custGeom>
              <a:avLst/>
              <a:gdLst/>
              <a:ahLst/>
              <a:cxnLst/>
              <a:rect l="l" t="t" r="r" b="b"/>
              <a:pathLst>
                <a:path w="2895600" h="990600">
                  <a:moveTo>
                    <a:pt x="0" y="0"/>
                  </a:moveTo>
                  <a:lnTo>
                    <a:pt x="2895600" y="0"/>
                  </a:lnTo>
                  <a:lnTo>
                    <a:pt x="28956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D9EDF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0" y="-38100"/>
              <a:ext cx="2895600" cy="1028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/>
              <a:endParaRPr sz="2800"/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4859000" y="5724525"/>
            <a:ext cx="2171700" cy="742950"/>
            <a:chOff x="0" y="0"/>
            <a:chExt cx="2895600" cy="990600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2895600" cy="990600"/>
            </a:xfrm>
            <a:custGeom>
              <a:avLst/>
              <a:gdLst/>
              <a:ahLst/>
              <a:cxnLst/>
              <a:rect l="l" t="t" r="r" b="b"/>
              <a:pathLst>
                <a:path w="2895600" h="990600">
                  <a:moveTo>
                    <a:pt x="0" y="0"/>
                  </a:moveTo>
                  <a:lnTo>
                    <a:pt x="2895600" y="0"/>
                  </a:lnTo>
                  <a:lnTo>
                    <a:pt x="28956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0" y="-38100"/>
              <a:ext cx="2895600" cy="1028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/>
              <a:endParaRPr sz="2800"/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12782550" y="5886450"/>
            <a:ext cx="1943100" cy="419100"/>
            <a:chOff x="0" y="0"/>
            <a:chExt cx="2590800" cy="558800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2590800" cy="558800"/>
            </a:xfrm>
            <a:custGeom>
              <a:avLst/>
              <a:gdLst/>
              <a:ahLst/>
              <a:cxnLst/>
              <a:rect l="l" t="t" r="r" b="b"/>
              <a:pathLst>
                <a:path w="2590800" h="558800">
                  <a:moveTo>
                    <a:pt x="0" y="0"/>
                  </a:moveTo>
                  <a:lnTo>
                    <a:pt x="2590800" y="0"/>
                  </a:lnTo>
                  <a:lnTo>
                    <a:pt x="25908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00A7C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0" y="-38100"/>
              <a:ext cx="2590800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/>
              <a:endParaRPr sz="2800"/>
            </a:p>
          </p:txBody>
        </p:sp>
      </p:grpSp>
      <p:sp>
        <p:nvSpPr>
          <p:cNvPr id="98" name="TextBox 98"/>
          <p:cNvSpPr txBox="1"/>
          <p:nvPr/>
        </p:nvSpPr>
        <p:spPr>
          <a:xfrm>
            <a:off x="990600" y="6867525"/>
            <a:ext cx="2476500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000" b="1" spc="179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SHIFT TEAM B</a:t>
            </a:r>
          </a:p>
        </p:txBody>
      </p:sp>
      <p:grpSp>
        <p:nvGrpSpPr>
          <p:cNvPr id="99" name="Group 99"/>
          <p:cNvGrpSpPr/>
          <p:nvPr/>
        </p:nvGrpSpPr>
        <p:grpSpPr>
          <a:xfrm>
            <a:off x="3905250" y="6657975"/>
            <a:ext cx="2171700" cy="742950"/>
            <a:chOff x="0" y="0"/>
            <a:chExt cx="2895600" cy="990600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2895600" cy="990600"/>
            </a:xfrm>
            <a:custGeom>
              <a:avLst/>
              <a:gdLst/>
              <a:ahLst/>
              <a:cxnLst/>
              <a:rect l="l" t="t" r="r" b="b"/>
              <a:pathLst>
                <a:path w="2895600" h="990600">
                  <a:moveTo>
                    <a:pt x="0" y="0"/>
                  </a:moveTo>
                  <a:lnTo>
                    <a:pt x="2895600" y="0"/>
                  </a:lnTo>
                  <a:lnTo>
                    <a:pt x="28956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D9EDF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0" y="-38100"/>
              <a:ext cx="2895600" cy="1028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/>
              <a:endParaRPr sz="2800"/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6096000" y="6657975"/>
            <a:ext cx="2171700" cy="742950"/>
            <a:chOff x="0" y="0"/>
            <a:chExt cx="2895600" cy="990600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2895600" cy="990600"/>
            </a:xfrm>
            <a:custGeom>
              <a:avLst/>
              <a:gdLst/>
              <a:ahLst/>
              <a:cxnLst/>
              <a:rect l="l" t="t" r="r" b="b"/>
              <a:pathLst>
                <a:path w="2895600" h="990600">
                  <a:moveTo>
                    <a:pt x="0" y="0"/>
                  </a:moveTo>
                  <a:lnTo>
                    <a:pt x="2895600" y="0"/>
                  </a:lnTo>
                  <a:lnTo>
                    <a:pt x="28956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0" y="-38100"/>
              <a:ext cx="2895600" cy="1028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/>
              <a:endParaRPr sz="2800"/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8286750" y="6657975"/>
            <a:ext cx="2171700" cy="742950"/>
            <a:chOff x="0" y="0"/>
            <a:chExt cx="2895600" cy="990600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2895600" cy="990600"/>
            </a:xfrm>
            <a:custGeom>
              <a:avLst/>
              <a:gdLst/>
              <a:ahLst/>
              <a:cxnLst/>
              <a:rect l="l" t="t" r="r" b="b"/>
              <a:pathLst>
                <a:path w="2895600" h="990600">
                  <a:moveTo>
                    <a:pt x="0" y="0"/>
                  </a:moveTo>
                  <a:lnTo>
                    <a:pt x="2895600" y="0"/>
                  </a:lnTo>
                  <a:lnTo>
                    <a:pt x="28956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0" y="-38100"/>
              <a:ext cx="2895600" cy="1028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/>
              <a:endParaRPr sz="2800"/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10477500" y="6657975"/>
            <a:ext cx="2171700" cy="742950"/>
            <a:chOff x="0" y="0"/>
            <a:chExt cx="2895600" cy="990600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2895600" cy="990600"/>
            </a:xfrm>
            <a:custGeom>
              <a:avLst/>
              <a:gdLst/>
              <a:ahLst/>
              <a:cxnLst/>
              <a:rect l="l" t="t" r="r" b="b"/>
              <a:pathLst>
                <a:path w="2895600" h="990600">
                  <a:moveTo>
                    <a:pt x="0" y="0"/>
                  </a:moveTo>
                  <a:lnTo>
                    <a:pt x="2895600" y="0"/>
                  </a:lnTo>
                  <a:lnTo>
                    <a:pt x="28956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D9EDF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0" y="-38100"/>
              <a:ext cx="2895600" cy="1028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/>
              <a:endParaRPr sz="2800"/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12668250" y="6657975"/>
            <a:ext cx="2171700" cy="742950"/>
            <a:chOff x="0" y="0"/>
            <a:chExt cx="2895600" cy="990600"/>
          </a:xfrm>
        </p:grpSpPr>
        <p:sp>
          <p:nvSpPr>
            <p:cNvPr id="112" name="Freeform 112"/>
            <p:cNvSpPr/>
            <p:nvPr/>
          </p:nvSpPr>
          <p:spPr>
            <a:xfrm>
              <a:off x="0" y="0"/>
              <a:ext cx="2895600" cy="990600"/>
            </a:xfrm>
            <a:custGeom>
              <a:avLst/>
              <a:gdLst/>
              <a:ahLst/>
              <a:cxnLst/>
              <a:rect l="l" t="t" r="r" b="b"/>
              <a:pathLst>
                <a:path w="2895600" h="990600">
                  <a:moveTo>
                    <a:pt x="0" y="0"/>
                  </a:moveTo>
                  <a:lnTo>
                    <a:pt x="2895600" y="0"/>
                  </a:lnTo>
                  <a:lnTo>
                    <a:pt x="28956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0" y="-38100"/>
              <a:ext cx="2895600" cy="1028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/>
              <a:endParaRPr sz="2800"/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14859000" y="6657975"/>
            <a:ext cx="2171700" cy="742950"/>
            <a:chOff x="0" y="0"/>
            <a:chExt cx="2895600" cy="990600"/>
          </a:xfrm>
        </p:grpSpPr>
        <p:sp>
          <p:nvSpPr>
            <p:cNvPr id="115" name="Freeform 115"/>
            <p:cNvSpPr/>
            <p:nvPr/>
          </p:nvSpPr>
          <p:spPr>
            <a:xfrm>
              <a:off x="0" y="0"/>
              <a:ext cx="2895600" cy="990600"/>
            </a:xfrm>
            <a:custGeom>
              <a:avLst/>
              <a:gdLst/>
              <a:ahLst/>
              <a:cxnLst/>
              <a:rect l="l" t="t" r="r" b="b"/>
              <a:pathLst>
                <a:path w="2895600" h="990600">
                  <a:moveTo>
                    <a:pt x="0" y="0"/>
                  </a:moveTo>
                  <a:lnTo>
                    <a:pt x="2895600" y="0"/>
                  </a:lnTo>
                  <a:lnTo>
                    <a:pt x="28956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0" y="-38100"/>
              <a:ext cx="2895600" cy="1028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/>
              <a:endParaRPr sz="2800"/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6210300" y="6819900"/>
            <a:ext cx="1943100" cy="419100"/>
            <a:chOff x="0" y="0"/>
            <a:chExt cx="2590800" cy="558800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2590800" cy="558800"/>
            </a:xfrm>
            <a:custGeom>
              <a:avLst/>
              <a:gdLst/>
              <a:ahLst/>
              <a:cxnLst/>
              <a:rect l="l" t="t" r="r" b="b"/>
              <a:pathLst>
                <a:path w="2590800" h="558800">
                  <a:moveTo>
                    <a:pt x="0" y="0"/>
                  </a:moveTo>
                  <a:lnTo>
                    <a:pt x="2590800" y="0"/>
                  </a:lnTo>
                  <a:lnTo>
                    <a:pt x="25908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00A7C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0" y="-38100"/>
              <a:ext cx="2590800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/>
              <a:endParaRPr sz="2800"/>
            </a:p>
          </p:txBody>
        </p:sp>
      </p:grpSp>
      <p:sp>
        <p:nvSpPr>
          <p:cNvPr id="120" name="TextBox 120"/>
          <p:cNvSpPr txBox="1"/>
          <p:nvPr/>
        </p:nvSpPr>
        <p:spPr>
          <a:xfrm>
            <a:off x="990600" y="7800975"/>
            <a:ext cx="2476500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2000" b="1" spc="179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RECOVERY</a:t>
            </a:r>
          </a:p>
        </p:txBody>
      </p:sp>
      <p:grpSp>
        <p:nvGrpSpPr>
          <p:cNvPr id="121" name="Group 121"/>
          <p:cNvGrpSpPr/>
          <p:nvPr/>
        </p:nvGrpSpPr>
        <p:grpSpPr>
          <a:xfrm>
            <a:off x="3905250" y="7591425"/>
            <a:ext cx="2171700" cy="742950"/>
            <a:chOff x="0" y="0"/>
            <a:chExt cx="2895600" cy="990600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2895600" cy="990600"/>
            </a:xfrm>
            <a:custGeom>
              <a:avLst/>
              <a:gdLst/>
              <a:ahLst/>
              <a:cxnLst/>
              <a:rect l="l" t="t" r="r" b="b"/>
              <a:pathLst>
                <a:path w="2895600" h="990600">
                  <a:moveTo>
                    <a:pt x="0" y="0"/>
                  </a:moveTo>
                  <a:lnTo>
                    <a:pt x="2895600" y="0"/>
                  </a:lnTo>
                  <a:lnTo>
                    <a:pt x="28956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0" y="-38100"/>
              <a:ext cx="2895600" cy="1028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/>
              <a:endParaRPr sz="2800"/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6096000" y="7591425"/>
            <a:ext cx="2171700" cy="742950"/>
            <a:chOff x="0" y="0"/>
            <a:chExt cx="2895600" cy="990600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2895600" cy="990600"/>
            </a:xfrm>
            <a:custGeom>
              <a:avLst/>
              <a:gdLst/>
              <a:ahLst/>
              <a:cxnLst/>
              <a:rect l="l" t="t" r="r" b="b"/>
              <a:pathLst>
                <a:path w="2895600" h="990600">
                  <a:moveTo>
                    <a:pt x="0" y="0"/>
                  </a:moveTo>
                  <a:lnTo>
                    <a:pt x="2895600" y="0"/>
                  </a:lnTo>
                  <a:lnTo>
                    <a:pt x="28956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0" y="-38100"/>
              <a:ext cx="2895600" cy="1028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/>
              <a:endParaRPr sz="2800"/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8286750" y="7591425"/>
            <a:ext cx="2171700" cy="742950"/>
            <a:chOff x="0" y="0"/>
            <a:chExt cx="2895600" cy="990600"/>
          </a:xfrm>
        </p:grpSpPr>
        <p:sp>
          <p:nvSpPr>
            <p:cNvPr id="128" name="Freeform 128"/>
            <p:cNvSpPr/>
            <p:nvPr/>
          </p:nvSpPr>
          <p:spPr>
            <a:xfrm>
              <a:off x="0" y="0"/>
              <a:ext cx="2895600" cy="990600"/>
            </a:xfrm>
            <a:custGeom>
              <a:avLst/>
              <a:gdLst/>
              <a:ahLst/>
              <a:cxnLst/>
              <a:rect l="l" t="t" r="r" b="b"/>
              <a:pathLst>
                <a:path w="2895600" h="990600">
                  <a:moveTo>
                    <a:pt x="0" y="0"/>
                  </a:moveTo>
                  <a:lnTo>
                    <a:pt x="2895600" y="0"/>
                  </a:lnTo>
                  <a:lnTo>
                    <a:pt x="28956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D9EDF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0" y="-38100"/>
              <a:ext cx="2895600" cy="1028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/>
              <a:endParaRPr sz="2800"/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10477500" y="7591425"/>
            <a:ext cx="2171700" cy="742950"/>
            <a:chOff x="0" y="0"/>
            <a:chExt cx="2895600" cy="990600"/>
          </a:xfrm>
        </p:grpSpPr>
        <p:sp>
          <p:nvSpPr>
            <p:cNvPr id="131" name="Freeform 131"/>
            <p:cNvSpPr/>
            <p:nvPr/>
          </p:nvSpPr>
          <p:spPr>
            <a:xfrm>
              <a:off x="0" y="0"/>
              <a:ext cx="2895600" cy="990600"/>
            </a:xfrm>
            <a:custGeom>
              <a:avLst/>
              <a:gdLst/>
              <a:ahLst/>
              <a:cxnLst/>
              <a:rect l="l" t="t" r="r" b="b"/>
              <a:pathLst>
                <a:path w="2895600" h="990600">
                  <a:moveTo>
                    <a:pt x="0" y="0"/>
                  </a:moveTo>
                  <a:lnTo>
                    <a:pt x="2895600" y="0"/>
                  </a:lnTo>
                  <a:lnTo>
                    <a:pt x="28956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0" y="-38100"/>
              <a:ext cx="2895600" cy="1028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/>
              <a:endParaRPr sz="2800"/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12668250" y="7591425"/>
            <a:ext cx="2171700" cy="742950"/>
            <a:chOff x="0" y="0"/>
            <a:chExt cx="2895600" cy="990600"/>
          </a:xfrm>
        </p:grpSpPr>
        <p:sp>
          <p:nvSpPr>
            <p:cNvPr id="134" name="Freeform 134"/>
            <p:cNvSpPr/>
            <p:nvPr/>
          </p:nvSpPr>
          <p:spPr>
            <a:xfrm>
              <a:off x="0" y="0"/>
              <a:ext cx="2895600" cy="990600"/>
            </a:xfrm>
            <a:custGeom>
              <a:avLst/>
              <a:gdLst/>
              <a:ahLst/>
              <a:cxnLst/>
              <a:rect l="l" t="t" r="r" b="b"/>
              <a:pathLst>
                <a:path w="2895600" h="990600">
                  <a:moveTo>
                    <a:pt x="0" y="0"/>
                  </a:moveTo>
                  <a:lnTo>
                    <a:pt x="2895600" y="0"/>
                  </a:lnTo>
                  <a:lnTo>
                    <a:pt x="28956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0" y="-38100"/>
              <a:ext cx="2895600" cy="1028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/>
              <a:endParaRPr sz="2800"/>
            </a:p>
          </p:txBody>
        </p:sp>
      </p:grpSp>
      <p:grpSp>
        <p:nvGrpSpPr>
          <p:cNvPr id="136" name="Group 136"/>
          <p:cNvGrpSpPr/>
          <p:nvPr/>
        </p:nvGrpSpPr>
        <p:grpSpPr>
          <a:xfrm>
            <a:off x="14859000" y="7591425"/>
            <a:ext cx="2171700" cy="742950"/>
            <a:chOff x="0" y="0"/>
            <a:chExt cx="2895600" cy="990600"/>
          </a:xfrm>
        </p:grpSpPr>
        <p:sp>
          <p:nvSpPr>
            <p:cNvPr id="137" name="Freeform 137"/>
            <p:cNvSpPr/>
            <p:nvPr/>
          </p:nvSpPr>
          <p:spPr>
            <a:xfrm>
              <a:off x="0" y="0"/>
              <a:ext cx="2895600" cy="990600"/>
            </a:xfrm>
            <a:custGeom>
              <a:avLst/>
              <a:gdLst/>
              <a:ahLst/>
              <a:cxnLst/>
              <a:rect l="l" t="t" r="r" b="b"/>
              <a:pathLst>
                <a:path w="2895600" h="990600">
                  <a:moveTo>
                    <a:pt x="0" y="0"/>
                  </a:moveTo>
                  <a:lnTo>
                    <a:pt x="2895600" y="0"/>
                  </a:lnTo>
                  <a:lnTo>
                    <a:pt x="28956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D9EDF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0" y="-38100"/>
              <a:ext cx="2895600" cy="1028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/>
              <a:endParaRPr sz="2800"/>
            </a:p>
          </p:txBody>
        </p:sp>
      </p:grpSp>
      <p:grpSp>
        <p:nvGrpSpPr>
          <p:cNvPr id="139" name="Group 139"/>
          <p:cNvGrpSpPr/>
          <p:nvPr/>
        </p:nvGrpSpPr>
        <p:grpSpPr>
          <a:xfrm>
            <a:off x="10591800" y="7753350"/>
            <a:ext cx="4133850" cy="419100"/>
            <a:chOff x="0" y="0"/>
            <a:chExt cx="5511800" cy="558800"/>
          </a:xfrm>
        </p:grpSpPr>
        <p:sp>
          <p:nvSpPr>
            <p:cNvPr id="140" name="Freeform 140"/>
            <p:cNvSpPr/>
            <p:nvPr/>
          </p:nvSpPr>
          <p:spPr>
            <a:xfrm>
              <a:off x="0" y="0"/>
              <a:ext cx="5511800" cy="558800"/>
            </a:xfrm>
            <a:custGeom>
              <a:avLst/>
              <a:gdLst/>
              <a:ahLst/>
              <a:cxnLst/>
              <a:rect l="l" t="t" r="r" b="b"/>
              <a:pathLst>
                <a:path w="5511800" h="558800">
                  <a:moveTo>
                    <a:pt x="0" y="0"/>
                  </a:moveTo>
                  <a:lnTo>
                    <a:pt x="5511800" y="0"/>
                  </a:lnTo>
                  <a:lnTo>
                    <a:pt x="5511800" y="558800"/>
                  </a:lnTo>
                  <a:lnTo>
                    <a:pt x="0" y="558800"/>
                  </a:lnTo>
                  <a:close/>
                </a:path>
              </a:pathLst>
            </a:custGeom>
            <a:solidFill>
              <a:srgbClr val="16B3A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0" y="-38100"/>
              <a:ext cx="5511800" cy="596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/>
              <a:endParaRPr sz="2800"/>
            </a:p>
          </p:txBody>
        </p:sp>
      </p:grpSp>
      <p:sp>
        <p:nvSpPr>
          <p:cNvPr id="142" name="TextBox 142"/>
          <p:cNvSpPr txBox="1"/>
          <p:nvPr/>
        </p:nvSpPr>
        <p:spPr>
          <a:xfrm>
            <a:off x="3619500" y="8839200"/>
            <a:ext cx="13144500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2400">
                <a:solidFill>
                  <a:srgbClr val="597084"/>
                </a:solidFill>
                <a:latin typeface="DM Sans"/>
                <a:ea typeface="DM Sans"/>
                <a:cs typeface="DM Sans"/>
                <a:sym typeface="DM Sans"/>
              </a:rPr>
              <a:t>Conflicts surface in context. Approved decisions become time-structured schedules across berths, vessels, cranes and shifts.</a:t>
            </a:r>
          </a:p>
        </p:txBody>
      </p:sp>
      <p:sp>
        <p:nvSpPr>
          <p:cNvPr id="145" name="TextBox 22">
            <a:extLst>
              <a:ext uri="{FF2B5EF4-FFF2-40B4-BE49-F238E27FC236}">
                <a16:creationId xmlns:a16="http://schemas.microsoft.com/office/drawing/2014/main" id="{285207C0-6AFC-689A-E163-4BC0E7F3971D}"/>
              </a:ext>
            </a:extLst>
          </p:cNvPr>
          <p:cNvSpPr txBox="1"/>
          <p:nvPr/>
        </p:nvSpPr>
        <p:spPr>
          <a:xfrm>
            <a:off x="990600" y="9667875"/>
            <a:ext cx="4762500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b="1" spc="144" dirty="0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PortsPilot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0600" y="590550"/>
            <a:ext cx="11430000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b="1" spc="162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ROUTE INTELLIGENCE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90600" y="1076325"/>
            <a:ext cx="14287500" cy="1661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5400" b="1">
                <a:solidFill>
                  <a:srgbClr val="10293F"/>
                </a:solidFill>
                <a:latin typeface="DM Sans Bold"/>
                <a:ea typeface="DM Sans Bold"/>
                <a:cs typeface="DM Sans Bold"/>
                <a:sym typeface="DM Sans Bold"/>
              </a:rPr>
              <a:t>When one port slows down, should the vessel wait?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649700" y="438150"/>
            <a:ext cx="647700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lang="en-US" sz="2400">
                <a:solidFill>
                  <a:srgbClr val="597084"/>
                </a:solidFill>
                <a:latin typeface="DM Sans"/>
                <a:ea typeface="DM Sans"/>
                <a:cs typeface="DM Sans"/>
                <a:sym typeface="DM Sans"/>
              </a:rPr>
              <a:t>11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00125" y="3238500"/>
            <a:ext cx="4953000" cy="3714750"/>
            <a:chOff x="0" y="0"/>
            <a:chExt cx="6604000" cy="4953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6604000" cy="4953000"/>
              <a:chOff x="0" y="0"/>
              <a:chExt cx="6604000" cy="4953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604000" cy="4953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4953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E7F1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6604000" cy="499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/>
                <a:endParaRPr sz="2800"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444500" y="425451"/>
              <a:ext cx="5715000" cy="4103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000" b="1" spc="171">
                  <a:solidFill>
                    <a:srgbClr val="00A7C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PORT 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4500" y="1301751"/>
              <a:ext cx="5715000" cy="1354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66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31h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4500" y="2809875"/>
              <a:ext cx="5715000" cy="6565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3200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$100k cost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4500" y="3917951"/>
              <a:ext cx="5715000" cy="4103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000" b="1">
                  <a:solidFill>
                    <a:srgbClr val="D9555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CRITICAL RISK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429375" y="3238500"/>
            <a:ext cx="4953000" cy="3714750"/>
            <a:chOff x="0" y="0"/>
            <a:chExt cx="6604000" cy="4953000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6604000" cy="4953000"/>
              <a:chOff x="0" y="0"/>
              <a:chExt cx="6604000" cy="4953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6604000" cy="4953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4953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071B3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6604000" cy="499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/>
                <a:endParaRPr sz="2800"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444500" y="425451"/>
              <a:ext cx="5715000" cy="4103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000" b="1" spc="171">
                  <a:solidFill>
                    <a:srgbClr val="00A7C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PORT B  /  RECOMMENDED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4500" y="1301751"/>
              <a:ext cx="5715000" cy="1354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66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18h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4500" y="2809875"/>
              <a:ext cx="5715000" cy="6565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32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$110k cost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4500" y="3917951"/>
              <a:ext cx="5715000" cy="4103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000" b="1">
                  <a:solidFill>
                    <a:srgbClr val="16B3A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MEDIUM RISK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858625" y="3238500"/>
            <a:ext cx="4953000" cy="3714750"/>
            <a:chOff x="0" y="0"/>
            <a:chExt cx="6604000" cy="4953000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6604000" cy="4953000"/>
              <a:chOff x="0" y="0"/>
              <a:chExt cx="6604000" cy="4953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6604000" cy="4953000"/>
              </a:xfrm>
              <a:custGeom>
                <a:avLst/>
                <a:gdLst/>
                <a:ahLst/>
                <a:cxnLst/>
                <a:rect l="l" t="t" r="r" b="b"/>
                <a:pathLst>
                  <a:path w="6604000" h="4953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953000"/>
                    </a:lnTo>
                    <a:lnTo>
                      <a:pt x="0" y="4953000"/>
                    </a:lnTo>
                    <a:close/>
                  </a:path>
                </a:pathLst>
              </a:custGeom>
              <a:solidFill>
                <a:srgbClr val="E7F1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6604000" cy="4991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/>
                <a:endParaRPr sz="2800"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444500" y="425451"/>
              <a:ext cx="5715000" cy="4103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000" b="1" spc="171">
                  <a:solidFill>
                    <a:srgbClr val="00A7C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PORT C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4500" y="1301751"/>
              <a:ext cx="5715000" cy="1354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66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23h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4500" y="2809875"/>
              <a:ext cx="5715000" cy="6565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3200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$96k cost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4500" y="3917951"/>
              <a:ext cx="5715000" cy="4103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000" b="1">
                  <a:solidFill>
                    <a:srgbClr val="EF835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HIGH RISK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2619375" y="7896225"/>
            <a:ext cx="13049250" cy="984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3200" b="1">
                <a:solidFill>
                  <a:srgbClr val="10293F"/>
                </a:solidFill>
                <a:latin typeface="DM Sans Bold"/>
                <a:ea typeface="DM Sans Bold"/>
                <a:cs typeface="DM Sans Bold"/>
                <a:sym typeface="DM Sans Bold"/>
              </a:rPr>
              <a:t>Port B costs slightly more—but removes 13 hours of delay. The platform compares; the operator decides.</a:t>
            </a:r>
          </a:p>
        </p:txBody>
      </p:sp>
      <p:sp>
        <p:nvSpPr>
          <p:cNvPr id="35" name="TextBox 22">
            <a:extLst>
              <a:ext uri="{FF2B5EF4-FFF2-40B4-BE49-F238E27FC236}">
                <a16:creationId xmlns:a16="http://schemas.microsoft.com/office/drawing/2014/main" id="{8430EB6B-E278-D2B2-7D2C-7553DB94C8E8}"/>
              </a:ext>
            </a:extLst>
          </p:cNvPr>
          <p:cNvSpPr txBox="1"/>
          <p:nvPr/>
        </p:nvSpPr>
        <p:spPr>
          <a:xfrm>
            <a:off x="990600" y="9667875"/>
            <a:ext cx="4762500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b="1" spc="144" dirty="0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PortsPilot 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0600" y="590550"/>
            <a:ext cx="11430000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b="1" spc="162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GEMINI AI COPILOT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90600" y="1076325"/>
            <a:ext cx="14287500" cy="830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5400" b="1">
                <a:solidFill>
                  <a:srgbClr val="10293F"/>
                </a:solidFill>
                <a:latin typeface="DM Sans Bold"/>
                <a:ea typeface="DM Sans Bold"/>
                <a:cs typeface="DM Sans Bold"/>
                <a:sym typeface="DM Sans Bold"/>
              </a:rPr>
              <a:t>Ask the port what is happening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649700" y="438150"/>
            <a:ext cx="647700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lang="en-US" sz="2400">
                <a:solidFill>
                  <a:srgbClr val="597084"/>
                </a:solidFill>
                <a:latin typeface="DM Sans"/>
                <a:ea typeface="DM Sans"/>
                <a:cs typeface="DM Sans"/>
                <a:sym typeface="DM Sans"/>
              </a:rPr>
              <a:t>12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0600" y="2619375"/>
            <a:ext cx="9048750" cy="6191250"/>
            <a:chOff x="0" y="0"/>
            <a:chExt cx="12065000" cy="8255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2065000" cy="8255000"/>
              <a:chOff x="0" y="0"/>
              <a:chExt cx="12065000" cy="8255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2065000" cy="8255000"/>
              </a:xfrm>
              <a:custGeom>
                <a:avLst/>
                <a:gdLst/>
                <a:ahLst/>
                <a:cxnLst/>
                <a:rect l="l" t="t" r="r" b="b"/>
                <a:pathLst>
                  <a:path w="12065000" h="8255000">
                    <a:moveTo>
                      <a:pt x="0" y="0"/>
                    </a:moveTo>
                    <a:lnTo>
                      <a:pt x="12065000" y="0"/>
                    </a:lnTo>
                    <a:lnTo>
                      <a:pt x="120650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2065000" cy="8293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/>
                <a:endParaRPr sz="2800"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584200" y="488951"/>
              <a:ext cx="10414000" cy="369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b="1" spc="162">
                  <a:solidFill>
                    <a:srgbClr val="00A7C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GROUNDED OPERATIONAL COPILOT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4200" y="1489075"/>
              <a:ext cx="8890000" cy="6565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32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Why is B04 at risk?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84200" y="2330451"/>
              <a:ext cx="10414000" cy="14773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400" dirty="0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B04 is projected at 94% </a:t>
              </a:r>
              <a:r>
                <a:rPr lang="en-US" sz="2400" dirty="0" err="1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utilisation</a:t>
              </a:r>
              <a:r>
                <a:rPr lang="en-US" sz="2400" dirty="0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. The largest drivers are incoming vessel arrivals (38%) and current berth </a:t>
              </a:r>
              <a:r>
                <a:rPr lang="en-US" sz="2400" dirty="0" err="1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utilisation</a:t>
              </a:r>
              <a:r>
                <a:rPr lang="en-US" sz="2400" dirty="0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 (27%).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84200" y="4410075"/>
              <a:ext cx="9906000" cy="13131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32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What changed after the recovery plan?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84200" y="5905500"/>
              <a:ext cx="10414000" cy="14773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400" dirty="0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Average wait returns from 17.8h to 12.1h after C05 coverage and the Ocean Star reassignment. If data is unavailable, I will say so.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334750" y="2762250"/>
            <a:ext cx="4953000" cy="819150"/>
            <a:chOff x="0" y="0"/>
            <a:chExt cx="6604000" cy="1092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604000" cy="1092200"/>
            </a:xfrm>
            <a:custGeom>
              <a:avLst/>
              <a:gdLst/>
              <a:ahLst/>
              <a:cxnLst/>
              <a:rect l="l" t="t" r="r" b="b"/>
              <a:pathLst>
                <a:path w="6604000" h="1092200">
                  <a:moveTo>
                    <a:pt x="39077" y="0"/>
                  </a:moveTo>
                  <a:lnTo>
                    <a:pt x="6564923" y="0"/>
                  </a:lnTo>
                  <a:cubicBezTo>
                    <a:pt x="6586505" y="0"/>
                    <a:pt x="6604000" y="17495"/>
                    <a:pt x="6604000" y="39077"/>
                  </a:cubicBezTo>
                  <a:lnTo>
                    <a:pt x="6604000" y="1053123"/>
                  </a:lnTo>
                  <a:cubicBezTo>
                    <a:pt x="6604000" y="1074705"/>
                    <a:pt x="6586505" y="1092200"/>
                    <a:pt x="6564923" y="1092200"/>
                  </a:cubicBezTo>
                  <a:lnTo>
                    <a:pt x="39077" y="1092200"/>
                  </a:lnTo>
                  <a:cubicBezTo>
                    <a:pt x="17495" y="1092200"/>
                    <a:pt x="0" y="1074705"/>
                    <a:pt x="0" y="1053123"/>
                  </a:cubicBezTo>
                  <a:lnTo>
                    <a:pt x="0" y="39077"/>
                  </a:lnTo>
                  <a:cubicBezTo>
                    <a:pt x="0" y="17495"/>
                    <a:pt x="17495" y="0"/>
                    <a:pt x="39077" y="0"/>
                  </a:cubicBezTo>
                  <a:close/>
                </a:path>
              </a:pathLst>
            </a:custGeom>
            <a:solidFill>
              <a:srgbClr val="E7F1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9525"/>
              <a:ext cx="6604000" cy="1082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OPERATIONS</a:t>
              </a:r>
            </a:p>
            <a:p>
              <a:pPr algn="ctr"/>
              <a:r>
                <a:rPr lang="en-US" sz="20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CONTEXT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>
            <a:off x="13811250" y="3600450"/>
            <a:ext cx="0" cy="361950"/>
          </a:xfrm>
          <a:prstGeom prst="line">
            <a:avLst/>
          </a:prstGeom>
          <a:ln w="28575" cap="flat">
            <a:solidFill>
              <a:srgbClr val="00A7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1" name="Group 21"/>
          <p:cNvGrpSpPr/>
          <p:nvPr/>
        </p:nvGrpSpPr>
        <p:grpSpPr>
          <a:xfrm>
            <a:off x="11334750" y="4019550"/>
            <a:ext cx="4953000" cy="819150"/>
            <a:chOff x="0" y="0"/>
            <a:chExt cx="6604000" cy="1092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604000" cy="1092200"/>
            </a:xfrm>
            <a:custGeom>
              <a:avLst/>
              <a:gdLst/>
              <a:ahLst/>
              <a:cxnLst/>
              <a:rect l="l" t="t" r="r" b="b"/>
              <a:pathLst>
                <a:path w="6604000" h="1092200">
                  <a:moveTo>
                    <a:pt x="39077" y="0"/>
                  </a:moveTo>
                  <a:lnTo>
                    <a:pt x="6564923" y="0"/>
                  </a:lnTo>
                  <a:cubicBezTo>
                    <a:pt x="6586505" y="0"/>
                    <a:pt x="6604000" y="17495"/>
                    <a:pt x="6604000" y="39077"/>
                  </a:cubicBezTo>
                  <a:lnTo>
                    <a:pt x="6604000" y="1053123"/>
                  </a:lnTo>
                  <a:cubicBezTo>
                    <a:pt x="6604000" y="1074705"/>
                    <a:pt x="6586505" y="1092200"/>
                    <a:pt x="6564923" y="1092200"/>
                  </a:cubicBezTo>
                  <a:lnTo>
                    <a:pt x="39077" y="1092200"/>
                  </a:lnTo>
                  <a:cubicBezTo>
                    <a:pt x="17495" y="1092200"/>
                    <a:pt x="0" y="1074705"/>
                    <a:pt x="0" y="1053123"/>
                  </a:cubicBezTo>
                  <a:lnTo>
                    <a:pt x="0" y="39077"/>
                  </a:lnTo>
                  <a:cubicBezTo>
                    <a:pt x="0" y="17495"/>
                    <a:pt x="17495" y="0"/>
                    <a:pt x="39077" y="0"/>
                  </a:cubicBezTo>
                  <a:close/>
                </a:path>
              </a:pathLst>
            </a:custGeom>
            <a:solidFill>
              <a:srgbClr val="E7F1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9525"/>
              <a:ext cx="6604000" cy="1082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STRUCTURED</a:t>
              </a:r>
            </a:p>
            <a:p>
              <a:pPr algn="ctr"/>
              <a:r>
                <a:rPr lang="en-US" sz="20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DATA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>
            <a:off x="13811250" y="4857750"/>
            <a:ext cx="0" cy="361950"/>
          </a:xfrm>
          <a:prstGeom prst="line">
            <a:avLst/>
          </a:prstGeom>
          <a:ln w="28575" cap="flat">
            <a:solidFill>
              <a:srgbClr val="00A7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5" name="Group 25"/>
          <p:cNvGrpSpPr/>
          <p:nvPr/>
        </p:nvGrpSpPr>
        <p:grpSpPr>
          <a:xfrm>
            <a:off x="11334750" y="5276850"/>
            <a:ext cx="4953000" cy="819150"/>
            <a:chOff x="0" y="0"/>
            <a:chExt cx="6604000" cy="10922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604000" cy="1092200"/>
            </a:xfrm>
            <a:custGeom>
              <a:avLst/>
              <a:gdLst/>
              <a:ahLst/>
              <a:cxnLst/>
              <a:rect l="l" t="t" r="r" b="b"/>
              <a:pathLst>
                <a:path w="6604000" h="1092200">
                  <a:moveTo>
                    <a:pt x="39077" y="0"/>
                  </a:moveTo>
                  <a:lnTo>
                    <a:pt x="6564923" y="0"/>
                  </a:lnTo>
                  <a:cubicBezTo>
                    <a:pt x="6586505" y="0"/>
                    <a:pt x="6604000" y="17495"/>
                    <a:pt x="6604000" y="39077"/>
                  </a:cubicBezTo>
                  <a:lnTo>
                    <a:pt x="6604000" y="1053123"/>
                  </a:lnTo>
                  <a:cubicBezTo>
                    <a:pt x="6604000" y="1074705"/>
                    <a:pt x="6586505" y="1092200"/>
                    <a:pt x="6564923" y="1092200"/>
                  </a:cubicBezTo>
                  <a:lnTo>
                    <a:pt x="39077" y="1092200"/>
                  </a:lnTo>
                  <a:cubicBezTo>
                    <a:pt x="17495" y="1092200"/>
                    <a:pt x="0" y="1074705"/>
                    <a:pt x="0" y="1053123"/>
                  </a:cubicBezTo>
                  <a:lnTo>
                    <a:pt x="0" y="39077"/>
                  </a:lnTo>
                  <a:cubicBezTo>
                    <a:pt x="0" y="17495"/>
                    <a:pt x="17495" y="0"/>
                    <a:pt x="39077" y="0"/>
                  </a:cubicBezTo>
                  <a:close/>
                </a:path>
              </a:pathLst>
            </a:custGeom>
            <a:solidFill>
              <a:srgbClr val="071B3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9525"/>
              <a:ext cx="6604000" cy="1082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GEMINI</a:t>
              </a:r>
            </a:p>
          </p:txBody>
        </p:sp>
      </p:grpSp>
      <p:sp>
        <p:nvSpPr>
          <p:cNvPr id="28" name="AutoShape 28"/>
          <p:cNvSpPr/>
          <p:nvPr/>
        </p:nvSpPr>
        <p:spPr>
          <a:xfrm>
            <a:off x="13811250" y="6115050"/>
            <a:ext cx="0" cy="361950"/>
          </a:xfrm>
          <a:prstGeom prst="line">
            <a:avLst/>
          </a:prstGeom>
          <a:ln w="28575" cap="flat">
            <a:solidFill>
              <a:srgbClr val="00A7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9" name="Group 29"/>
          <p:cNvGrpSpPr/>
          <p:nvPr/>
        </p:nvGrpSpPr>
        <p:grpSpPr>
          <a:xfrm>
            <a:off x="11334750" y="6534150"/>
            <a:ext cx="4953000" cy="819150"/>
            <a:chOff x="0" y="0"/>
            <a:chExt cx="6604000" cy="10922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604000" cy="1092200"/>
            </a:xfrm>
            <a:custGeom>
              <a:avLst/>
              <a:gdLst/>
              <a:ahLst/>
              <a:cxnLst/>
              <a:rect l="l" t="t" r="r" b="b"/>
              <a:pathLst>
                <a:path w="6604000" h="1092200">
                  <a:moveTo>
                    <a:pt x="39077" y="0"/>
                  </a:moveTo>
                  <a:lnTo>
                    <a:pt x="6564923" y="0"/>
                  </a:lnTo>
                  <a:cubicBezTo>
                    <a:pt x="6586505" y="0"/>
                    <a:pt x="6604000" y="17495"/>
                    <a:pt x="6604000" y="39077"/>
                  </a:cubicBezTo>
                  <a:lnTo>
                    <a:pt x="6604000" y="1053123"/>
                  </a:lnTo>
                  <a:cubicBezTo>
                    <a:pt x="6604000" y="1074705"/>
                    <a:pt x="6586505" y="1092200"/>
                    <a:pt x="6564923" y="1092200"/>
                  </a:cubicBezTo>
                  <a:lnTo>
                    <a:pt x="39077" y="1092200"/>
                  </a:lnTo>
                  <a:cubicBezTo>
                    <a:pt x="17495" y="1092200"/>
                    <a:pt x="0" y="1074705"/>
                    <a:pt x="0" y="1053123"/>
                  </a:cubicBezTo>
                  <a:lnTo>
                    <a:pt x="0" y="39077"/>
                  </a:lnTo>
                  <a:cubicBezTo>
                    <a:pt x="0" y="17495"/>
                    <a:pt x="17495" y="0"/>
                    <a:pt x="39077" y="0"/>
                  </a:cubicBezTo>
                  <a:close/>
                </a:path>
              </a:pathLst>
            </a:custGeom>
            <a:solidFill>
              <a:srgbClr val="E7F1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9525"/>
              <a:ext cx="6604000" cy="1082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GROUNDED</a:t>
              </a:r>
            </a:p>
            <a:p>
              <a:pPr algn="ctr"/>
              <a:r>
                <a:rPr lang="en-US" sz="20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RESPONSE</a:t>
              </a:r>
            </a:p>
          </p:txBody>
        </p:sp>
      </p:grpSp>
      <p:sp>
        <p:nvSpPr>
          <p:cNvPr id="32" name="AutoShape 32"/>
          <p:cNvSpPr/>
          <p:nvPr/>
        </p:nvSpPr>
        <p:spPr>
          <a:xfrm>
            <a:off x="13811250" y="7372350"/>
            <a:ext cx="0" cy="361950"/>
          </a:xfrm>
          <a:prstGeom prst="line">
            <a:avLst/>
          </a:prstGeom>
          <a:ln w="28575" cap="flat">
            <a:solidFill>
              <a:srgbClr val="00A7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33" name="Group 33"/>
          <p:cNvGrpSpPr/>
          <p:nvPr/>
        </p:nvGrpSpPr>
        <p:grpSpPr>
          <a:xfrm>
            <a:off x="11334750" y="7791450"/>
            <a:ext cx="4953000" cy="819150"/>
            <a:chOff x="0" y="0"/>
            <a:chExt cx="6604000" cy="10922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604000" cy="1092200"/>
            </a:xfrm>
            <a:custGeom>
              <a:avLst/>
              <a:gdLst/>
              <a:ahLst/>
              <a:cxnLst/>
              <a:rect l="l" t="t" r="r" b="b"/>
              <a:pathLst>
                <a:path w="6604000" h="1092200">
                  <a:moveTo>
                    <a:pt x="39077" y="0"/>
                  </a:moveTo>
                  <a:lnTo>
                    <a:pt x="6564923" y="0"/>
                  </a:lnTo>
                  <a:cubicBezTo>
                    <a:pt x="6586505" y="0"/>
                    <a:pt x="6604000" y="17495"/>
                    <a:pt x="6604000" y="39077"/>
                  </a:cubicBezTo>
                  <a:lnTo>
                    <a:pt x="6604000" y="1053123"/>
                  </a:lnTo>
                  <a:cubicBezTo>
                    <a:pt x="6604000" y="1074705"/>
                    <a:pt x="6586505" y="1092200"/>
                    <a:pt x="6564923" y="1092200"/>
                  </a:cubicBezTo>
                  <a:lnTo>
                    <a:pt x="39077" y="1092200"/>
                  </a:lnTo>
                  <a:cubicBezTo>
                    <a:pt x="17495" y="1092200"/>
                    <a:pt x="0" y="1074705"/>
                    <a:pt x="0" y="1053123"/>
                  </a:cubicBezTo>
                  <a:lnTo>
                    <a:pt x="0" y="39077"/>
                  </a:lnTo>
                  <a:cubicBezTo>
                    <a:pt x="0" y="17495"/>
                    <a:pt x="17495" y="0"/>
                    <a:pt x="39077" y="0"/>
                  </a:cubicBezTo>
                  <a:close/>
                </a:path>
              </a:pathLst>
            </a:custGeom>
            <a:solidFill>
              <a:srgbClr val="E7F1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9525"/>
              <a:ext cx="6604000" cy="1082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TEXT • METRICS</a:t>
              </a:r>
            </a:p>
            <a:p>
              <a:pPr algn="ctr"/>
              <a:r>
                <a:rPr lang="en-US" sz="20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TABLES • ACTIONS</a:t>
              </a:r>
            </a:p>
          </p:txBody>
        </p:sp>
      </p:grpSp>
      <p:sp>
        <p:nvSpPr>
          <p:cNvPr id="40" name="TextBox 22">
            <a:extLst>
              <a:ext uri="{FF2B5EF4-FFF2-40B4-BE49-F238E27FC236}">
                <a16:creationId xmlns:a16="http://schemas.microsoft.com/office/drawing/2014/main" id="{D4670CB1-0927-494F-5219-BF3FEEC5EF95}"/>
              </a:ext>
            </a:extLst>
          </p:cNvPr>
          <p:cNvSpPr txBox="1"/>
          <p:nvPr/>
        </p:nvSpPr>
        <p:spPr>
          <a:xfrm>
            <a:off x="990600" y="9667875"/>
            <a:ext cx="4762500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b="1" spc="144" dirty="0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PortsPilot 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0600" y="590550"/>
            <a:ext cx="11430000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b="1" spc="162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SHIP AGENT PORTAL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90600" y="1076325"/>
            <a:ext cx="14287500" cy="1661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5400" b="1">
                <a:solidFill>
                  <a:srgbClr val="10293F"/>
                </a:solidFill>
                <a:latin typeface="DM Sans Bold"/>
                <a:ea typeface="DM Sans Bold"/>
                <a:cs typeface="DM Sans Bold"/>
                <a:sym typeface="DM Sans Bold"/>
              </a:rPr>
              <a:t>Port intelligence doesn’t stop at the port gate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649700" y="438150"/>
            <a:ext cx="647700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lang="en-US" sz="2400">
                <a:solidFill>
                  <a:srgbClr val="597084"/>
                </a:solidFill>
                <a:latin typeface="DM Sans"/>
                <a:ea typeface="DM Sans"/>
                <a:cs typeface="DM Sans"/>
                <a:sym typeface="DM Sans"/>
              </a:rPr>
              <a:t>13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0600" y="2714625"/>
            <a:ext cx="7524750" cy="5953125"/>
            <a:chOff x="0" y="0"/>
            <a:chExt cx="10033000" cy="79375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0033000" cy="7937500"/>
              <a:chOff x="0" y="0"/>
              <a:chExt cx="10033000" cy="79375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0033000" cy="7937500"/>
              </a:xfrm>
              <a:custGeom>
                <a:avLst/>
                <a:gdLst/>
                <a:ahLst/>
                <a:cxnLst/>
                <a:rect l="l" t="t" r="r" b="b"/>
                <a:pathLst>
                  <a:path w="10033000" h="79375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7937500"/>
                    </a:lnTo>
                    <a:lnTo>
                      <a:pt x="0" y="7937500"/>
                    </a:lnTo>
                    <a:close/>
                  </a:path>
                </a:pathLst>
              </a:custGeom>
              <a:solidFill>
                <a:srgbClr val="E7F1F6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0033000" cy="7975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/>
                <a:endParaRPr sz="2800"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584200" y="552451"/>
              <a:ext cx="8763000" cy="369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b="1" spc="162">
                  <a:solidFill>
                    <a:srgbClr val="00A7C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AGENT WORKSPACE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4200" y="1317625"/>
              <a:ext cx="8763000" cy="8207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40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Vessels &amp; berth requests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84200" y="2511425"/>
              <a:ext cx="8255000" cy="32829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3200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Add vessels and cargo details</a:t>
              </a:r>
            </a:p>
            <a:p>
              <a:pPr algn="l"/>
              <a:r>
                <a:rPr lang="en-US" sz="3200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Update ETA and schedules</a:t>
              </a:r>
            </a:p>
            <a:p>
              <a:pPr algn="l"/>
              <a:r>
                <a:rPr lang="en-US" sz="3200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Submit berth requests</a:t>
              </a:r>
            </a:p>
            <a:p>
              <a:pPr algn="l"/>
              <a:r>
                <a:rPr lang="en-US" sz="3200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Receive vessel-specific alerts</a:t>
              </a:r>
            </a:p>
            <a:p>
              <a:pPr algn="l"/>
              <a:r>
                <a:rPr lang="en-US" sz="3200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Ask operational questions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84200" y="5876925"/>
              <a:ext cx="8255000" cy="369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b="1" spc="127">
                  <a:solidFill>
                    <a:srgbClr val="EF835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ACCESS BOUNDARY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84200" y="6457951"/>
              <a:ext cx="8255000" cy="9848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400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No crane reassignment • no other-company data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096500" y="2571750"/>
            <a:ext cx="6191250" cy="762000"/>
            <a:chOff x="0" y="0"/>
            <a:chExt cx="8255000" cy="1016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255000" cy="1016000"/>
            </a:xfrm>
            <a:custGeom>
              <a:avLst/>
              <a:gdLst/>
              <a:ahLst/>
              <a:cxnLst/>
              <a:rect l="l" t="t" r="r" b="b"/>
              <a:pathLst>
                <a:path w="8255000" h="1016000">
                  <a:moveTo>
                    <a:pt x="31262" y="0"/>
                  </a:moveTo>
                  <a:lnTo>
                    <a:pt x="8223738" y="0"/>
                  </a:lnTo>
                  <a:cubicBezTo>
                    <a:pt x="8232029" y="0"/>
                    <a:pt x="8239981" y="3294"/>
                    <a:pt x="8245844" y="9156"/>
                  </a:cubicBezTo>
                  <a:cubicBezTo>
                    <a:pt x="8251706" y="15019"/>
                    <a:pt x="8255000" y="22970"/>
                    <a:pt x="8255000" y="31262"/>
                  </a:cubicBezTo>
                  <a:lnTo>
                    <a:pt x="8255000" y="984738"/>
                  </a:lnTo>
                  <a:cubicBezTo>
                    <a:pt x="8255000" y="993030"/>
                    <a:pt x="8251706" y="1000981"/>
                    <a:pt x="8245844" y="1006844"/>
                  </a:cubicBezTo>
                  <a:cubicBezTo>
                    <a:pt x="8239981" y="1012706"/>
                    <a:pt x="8232029" y="1016000"/>
                    <a:pt x="8223738" y="1016000"/>
                  </a:cubicBezTo>
                  <a:lnTo>
                    <a:pt x="31262" y="1016000"/>
                  </a:lnTo>
                  <a:cubicBezTo>
                    <a:pt x="22970" y="1016000"/>
                    <a:pt x="15019" y="1012706"/>
                    <a:pt x="9156" y="1006844"/>
                  </a:cubicBezTo>
                  <a:cubicBezTo>
                    <a:pt x="3294" y="1000981"/>
                    <a:pt x="0" y="993030"/>
                    <a:pt x="0" y="984738"/>
                  </a:cubicBezTo>
                  <a:lnTo>
                    <a:pt x="0" y="31262"/>
                  </a:lnTo>
                  <a:cubicBezTo>
                    <a:pt x="0" y="22970"/>
                    <a:pt x="3294" y="15019"/>
                    <a:pt x="9156" y="9156"/>
                  </a:cubicBezTo>
                  <a:cubicBezTo>
                    <a:pt x="15019" y="3294"/>
                    <a:pt x="22970" y="0"/>
                    <a:pt x="3126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9525"/>
              <a:ext cx="8255000" cy="100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SHIP AGENT</a:t>
              </a:r>
            </a:p>
          </p:txBody>
        </p:sp>
      </p:grpSp>
      <p:sp>
        <p:nvSpPr>
          <p:cNvPr id="20" name="AutoShape 20"/>
          <p:cNvSpPr/>
          <p:nvPr/>
        </p:nvSpPr>
        <p:spPr>
          <a:xfrm>
            <a:off x="13192125" y="3352800"/>
            <a:ext cx="0" cy="323850"/>
          </a:xfrm>
          <a:prstGeom prst="line">
            <a:avLst/>
          </a:prstGeom>
          <a:ln w="28575" cap="flat">
            <a:solidFill>
              <a:srgbClr val="00A7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1" name="Group 21"/>
          <p:cNvGrpSpPr/>
          <p:nvPr/>
        </p:nvGrpSpPr>
        <p:grpSpPr>
          <a:xfrm>
            <a:off x="10096500" y="3733800"/>
            <a:ext cx="6191250" cy="762000"/>
            <a:chOff x="0" y="0"/>
            <a:chExt cx="8255000" cy="1016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255000" cy="1016000"/>
            </a:xfrm>
            <a:custGeom>
              <a:avLst/>
              <a:gdLst/>
              <a:ahLst/>
              <a:cxnLst/>
              <a:rect l="l" t="t" r="r" b="b"/>
              <a:pathLst>
                <a:path w="8255000" h="1016000">
                  <a:moveTo>
                    <a:pt x="31262" y="0"/>
                  </a:moveTo>
                  <a:lnTo>
                    <a:pt x="8223738" y="0"/>
                  </a:lnTo>
                  <a:cubicBezTo>
                    <a:pt x="8232029" y="0"/>
                    <a:pt x="8239981" y="3294"/>
                    <a:pt x="8245844" y="9156"/>
                  </a:cubicBezTo>
                  <a:cubicBezTo>
                    <a:pt x="8251706" y="15019"/>
                    <a:pt x="8255000" y="22970"/>
                    <a:pt x="8255000" y="31262"/>
                  </a:cubicBezTo>
                  <a:lnTo>
                    <a:pt x="8255000" y="984738"/>
                  </a:lnTo>
                  <a:cubicBezTo>
                    <a:pt x="8255000" y="993030"/>
                    <a:pt x="8251706" y="1000981"/>
                    <a:pt x="8245844" y="1006844"/>
                  </a:cubicBezTo>
                  <a:cubicBezTo>
                    <a:pt x="8239981" y="1012706"/>
                    <a:pt x="8232029" y="1016000"/>
                    <a:pt x="8223738" y="1016000"/>
                  </a:cubicBezTo>
                  <a:lnTo>
                    <a:pt x="31262" y="1016000"/>
                  </a:lnTo>
                  <a:cubicBezTo>
                    <a:pt x="22970" y="1016000"/>
                    <a:pt x="15019" y="1012706"/>
                    <a:pt x="9156" y="1006844"/>
                  </a:cubicBezTo>
                  <a:cubicBezTo>
                    <a:pt x="3294" y="1000981"/>
                    <a:pt x="0" y="993030"/>
                    <a:pt x="0" y="984738"/>
                  </a:cubicBezTo>
                  <a:lnTo>
                    <a:pt x="0" y="31262"/>
                  </a:lnTo>
                  <a:cubicBezTo>
                    <a:pt x="0" y="22970"/>
                    <a:pt x="3294" y="15019"/>
                    <a:pt x="9156" y="9156"/>
                  </a:cubicBezTo>
                  <a:cubicBezTo>
                    <a:pt x="15019" y="3294"/>
                    <a:pt x="22970" y="0"/>
                    <a:pt x="3126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9525"/>
              <a:ext cx="8255000" cy="100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VESSEL / ETA /</a:t>
              </a:r>
            </a:p>
            <a:p>
              <a:pPr algn="ctr"/>
              <a:r>
                <a:rPr lang="en-US" sz="20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BERTH REQUEST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>
            <a:off x="13192125" y="4514850"/>
            <a:ext cx="0" cy="323850"/>
          </a:xfrm>
          <a:prstGeom prst="line">
            <a:avLst/>
          </a:prstGeom>
          <a:ln w="28575" cap="flat">
            <a:solidFill>
              <a:srgbClr val="00A7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5" name="Group 25"/>
          <p:cNvGrpSpPr/>
          <p:nvPr/>
        </p:nvGrpSpPr>
        <p:grpSpPr>
          <a:xfrm>
            <a:off x="10096500" y="4895850"/>
            <a:ext cx="6191250" cy="762000"/>
            <a:chOff x="0" y="0"/>
            <a:chExt cx="8255000" cy="10160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255000" cy="1016000"/>
            </a:xfrm>
            <a:custGeom>
              <a:avLst/>
              <a:gdLst/>
              <a:ahLst/>
              <a:cxnLst/>
              <a:rect l="l" t="t" r="r" b="b"/>
              <a:pathLst>
                <a:path w="8255000" h="1016000">
                  <a:moveTo>
                    <a:pt x="31262" y="0"/>
                  </a:moveTo>
                  <a:lnTo>
                    <a:pt x="8223738" y="0"/>
                  </a:lnTo>
                  <a:cubicBezTo>
                    <a:pt x="8232029" y="0"/>
                    <a:pt x="8239981" y="3294"/>
                    <a:pt x="8245844" y="9156"/>
                  </a:cubicBezTo>
                  <a:cubicBezTo>
                    <a:pt x="8251706" y="15019"/>
                    <a:pt x="8255000" y="22970"/>
                    <a:pt x="8255000" y="31262"/>
                  </a:cubicBezTo>
                  <a:lnTo>
                    <a:pt x="8255000" y="984738"/>
                  </a:lnTo>
                  <a:cubicBezTo>
                    <a:pt x="8255000" y="993030"/>
                    <a:pt x="8251706" y="1000981"/>
                    <a:pt x="8245844" y="1006844"/>
                  </a:cubicBezTo>
                  <a:cubicBezTo>
                    <a:pt x="8239981" y="1012706"/>
                    <a:pt x="8232029" y="1016000"/>
                    <a:pt x="8223738" y="1016000"/>
                  </a:cubicBezTo>
                  <a:lnTo>
                    <a:pt x="31262" y="1016000"/>
                  </a:lnTo>
                  <a:cubicBezTo>
                    <a:pt x="22970" y="1016000"/>
                    <a:pt x="15019" y="1012706"/>
                    <a:pt x="9156" y="1006844"/>
                  </a:cubicBezTo>
                  <a:cubicBezTo>
                    <a:pt x="3294" y="1000981"/>
                    <a:pt x="0" y="993030"/>
                    <a:pt x="0" y="984738"/>
                  </a:cubicBezTo>
                  <a:lnTo>
                    <a:pt x="0" y="31262"/>
                  </a:lnTo>
                  <a:cubicBezTo>
                    <a:pt x="0" y="22970"/>
                    <a:pt x="3294" y="15019"/>
                    <a:pt x="9156" y="9156"/>
                  </a:cubicBezTo>
                  <a:cubicBezTo>
                    <a:pt x="15019" y="3294"/>
                    <a:pt x="22970" y="0"/>
                    <a:pt x="31262" y="0"/>
                  </a:cubicBezTo>
                  <a:close/>
                </a:path>
              </a:pathLst>
            </a:custGeom>
            <a:solidFill>
              <a:srgbClr val="071B3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9525"/>
              <a:ext cx="8255000" cy="100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PORT OPERATIONS</a:t>
              </a:r>
            </a:p>
          </p:txBody>
        </p:sp>
      </p:grpSp>
      <p:sp>
        <p:nvSpPr>
          <p:cNvPr id="28" name="AutoShape 28"/>
          <p:cNvSpPr/>
          <p:nvPr/>
        </p:nvSpPr>
        <p:spPr>
          <a:xfrm>
            <a:off x="13192125" y="5676900"/>
            <a:ext cx="0" cy="323850"/>
          </a:xfrm>
          <a:prstGeom prst="line">
            <a:avLst/>
          </a:prstGeom>
          <a:ln w="28575" cap="flat">
            <a:solidFill>
              <a:srgbClr val="00A7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9" name="Group 29"/>
          <p:cNvGrpSpPr/>
          <p:nvPr/>
        </p:nvGrpSpPr>
        <p:grpSpPr>
          <a:xfrm>
            <a:off x="10096500" y="6057900"/>
            <a:ext cx="6191250" cy="762000"/>
            <a:chOff x="0" y="0"/>
            <a:chExt cx="8255000" cy="10160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255000" cy="1016000"/>
            </a:xfrm>
            <a:custGeom>
              <a:avLst/>
              <a:gdLst/>
              <a:ahLst/>
              <a:cxnLst/>
              <a:rect l="l" t="t" r="r" b="b"/>
              <a:pathLst>
                <a:path w="8255000" h="1016000">
                  <a:moveTo>
                    <a:pt x="31262" y="0"/>
                  </a:moveTo>
                  <a:lnTo>
                    <a:pt x="8223738" y="0"/>
                  </a:lnTo>
                  <a:cubicBezTo>
                    <a:pt x="8232029" y="0"/>
                    <a:pt x="8239981" y="3294"/>
                    <a:pt x="8245844" y="9156"/>
                  </a:cubicBezTo>
                  <a:cubicBezTo>
                    <a:pt x="8251706" y="15019"/>
                    <a:pt x="8255000" y="22970"/>
                    <a:pt x="8255000" y="31262"/>
                  </a:cubicBezTo>
                  <a:lnTo>
                    <a:pt x="8255000" y="984738"/>
                  </a:lnTo>
                  <a:cubicBezTo>
                    <a:pt x="8255000" y="993030"/>
                    <a:pt x="8251706" y="1000981"/>
                    <a:pt x="8245844" y="1006844"/>
                  </a:cubicBezTo>
                  <a:cubicBezTo>
                    <a:pt x="8239981" y="1012706"/>
                    <a:pt x="8232029" y="1016000"/>
                    <a:pt x="8223738" y="1016000"/>
                  </a:cubicBezTo>
                  <a:lnTo>
                    <a:pt x="31262" y="1016000"/>
                  </a:lnTo>
                  <a:cubicBezTo>
                    <a:pt x="22970" y="1016000"/>
                    <a:pt x="15019" y="1012706"/>
                    <a:pt x="9156" y="1006844"/>
                  </a:cubicBezTo>
                  <a:cubicBezTo>
                    <a:pt x="3294" y="1000981"/>
                    <a:pt x="0" y="993030"/>
                    <a:pt x="0" y="984738"/>
                  </a:cubicBezTo>
                  <a:lnTo>
                    <a:pt x="0" y="31262"/>
                  </a:lnTo>
                  <a:cubicBezTo>
                    <a:pt x="0" y="22970"/>
                    <a:pt x="3294" y="15019"/>
                    <a:pt x="9156" y="9156"/>
                  </a:cubicBezTo>
                  <a:cubicBezTo>
                    <a:pt x="15019" y="3294"/>
                    <a:pt x="22970" y="0"/>
                    <a:pt x="3126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9525"/>
              <a:ext cx="8255000" cy="100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PREDICT +</a:t>
              </a:r>
            </a:p>
            <a:p>
              <a:pPr algn="ctr"/>
              <a:r>
                <a:rPr lang="en-US" sz="20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OPTIMISE</a:t>
              </a:r>
            </a:p>
          </p:txBody>
        </p:sp>
      </p:grpSp>
      <p:sp>
        <p:nvSpPr>
          <p:cNvPr id="32" name="AutoShape 32"/>
          <p:cNvSpPr/>
          <p:nvPr/>
        </p:nvSpPr>
        <p:spPr>
          <a:xfrm>
            <a:off x="13192125" y="6838950"/>
            <a:ext cx="0" cy="323850"/>
          </a:xfrm>
          <a:prstGeom prst="line">
            <a:avLst/>
          </a:prstGeom>
          <a:ln w="28575" cap="flat">
            <a:solidFill>
              <a:srgbClr val="00A7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33" name="Group 33"/>
          <p:cNvGrpSpPr/>
          <p:nvPr/>
        </p:nvGrpSpPr>
        <p:grpSpPr>
          <a:xfrm>
            <a:off x="10096500" y="7219950"/>
            <a:ext cx="6191250" cy="762000"/>
            <a:chOff x="0" y="0"/>
            <a:chExt cx="8255000" cy="10160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255000" cy="1016000"/>
            </a:xfrm>
            <a:custGeom>
              <a:avLst/>
              <a:gdLst/>
              <a:ahLst/>
              <a:cxnLst/>
              <a:rect l="l" t="t" r="r" b="b"/>
              <a:pathLst>
                <a:path w="8255000" h="1016000">
                  <a:moveTo>
                    <a:pt x="31262" y="0"/>
                  </a:moveTo>
                  <a:lnTo>
                    <a:pt x="8223738" y="0"/>
                  </a:lnTo>
                  <a:cubicBezTo>
                    <a:pt x="8232029" y="0"/>
                    <a:pt x="8239981" y="3294"/>
                    <a:pt x="8245844" y="9156"/>
                  </a:cubicBezTo>
                  <a:cubicBezTo>
                    <a:pt x="8251706" y="15019"/>
                    <a:pt x="8255000" y="22970"/>
                    <a:pt x="8255000" y="31262"/>
                  </a:cubicBezTo>
                  <a:lnTo>
                    <a:pt x="8255000" y="984738"/>
                  </a:lnTo>
                  <a:cubicBezTo>
                    <a:pt x="8255000" y="993030"/>
                    <a:pt x="8251706" y="1000981"/>
                    <a:pt x="8245844" y="1006844"/>
                  </a:cubicBezTo>
                  <a:cubicBezTo>
                    <a:pt x="8239981" y="1012706"/>
                    <a:pt x="8232029" y="1016000"/>
                    <a:pt x="8223738" y="1016000"/>
                  </a:cubicBezTo>
                  <a:lnTo>
                    <a:pt x="31262" y="1016000"/>
                  </a:lnTo>
                  <a:cubicBezTo>
                    <a:pt x="22970" y="1016000"/>
                    <a:pt x="15019" y="1012706"/>
                    <a:pt x="9156" y="1006844"/>
                  </a:cubicBezTo>
                  <a:cubicBezTo>
                    <a:pt x="3294" y="1000981"/>
                    <a:pt x="0" y="993030"/>
                    <a:pt x="0" y="984738"/>
                  </a:cubicBezTo>
                  <a:lnTo>
                    <a:pt x="0" y="31262"/>
                  </a:lnTo>
                  <a:cubicBezTo>
                    <a:pt x="0" y="22970"/>
                    <a:pt x="3294" y="15019"/>
                    <a:pt x="9156" y="9156"/>
                  </a:cubicBezTo>
                  <a:cubicBezTo>
                    <a:pt x="15019" y="3294"/>
                    <a:pt x="22970" y="0"/>
                    <a:pt x="31262" y="0"/>
                  </a:cubicBezTo>
                  <a:close/>
                </a:path>
              </a:pathLst>
            </a:custGeom>
            <a:solidFill>
              <a:srgbClr val="071B3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9525"/>
              <a:ext cx="8255000" cy="100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UPDATED DECISION</a:t>
              </a:r>
            </a:p>
          </p:txBody>
        </p:sp>
      </p:grpSp>
      <p:sp>
        <p:nvSpPr>
          <p:cNvPr id="36" name="AutoShape 36"/>
          <p:cNvSpPr/>
          <p:nvPr/>
        </p:nvSpPr>
        <p:spPr>
          <a:xfrm>
            <a:off x="13192125" y="8001000"/>
            <a:ext cx="0" cy="323850"/>
          </a:xfrm>
          <a:prstGeom prst="line">
            <a:avLst/>
          </a:prstGeom>
          <a:ln w="28575" cap="flat">
            <a:solidFill>
              <a:srgbClr val="00A7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37" name="Group 37"/>
          <p:cNvGrpSpPr/>
          <p:nvPr/>
        </p:nvGrpSpPr>
        <p:grpSpPr>
          <a:xfrm>
            <a:off x="10096500" y="8382000"/>
            <a:ext cx="6191250" cy="762000"/>
            <a:chOff x="0" y="0"/>
            <a:chExt cx="8255000" cy="10160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255000" cy="1016000"/>
            </a:xfrm>
            <a:custGeom>
              <a:avLst/>
              <a:gdLst/>
              <a:ahLst/>
              <a:cxnLst/>
              <a:rect l="l" t="t" r="r" b="b"/>
              <a:pathLst>
                <a:path w="8255000" h="1016000">
                  <a:moveTo>
                    <a:pt x="31262" y="0"/>
                  </a:moveTo>
                  <a:lnTo>
                    <a:pt x="8223738" y="0"/>
                  </a:lnTo>
                  <a:cubicBezTo>
                    <a:pt x="8232029" y="0"/>
                    <a:pt x="8239981" y="3294"/>
                    <a:pt x="8245844" y="9156"/>
                  </a:cubicBezTo>
                  <a:cubicBezTo>
                    <a:pt x="8251706" y="15019"/>
                    <a:pt x="8255000" y="22970"/>
                    <a:pt x="8255000" y="31262"/>
                  </a:cubicBezTo>
                  <a:lnTo>
                    <a:pt x="8255000" y="984738"/>
                  </a:lnTo>
                  <a:cubicBezTo>
                    <a:pt x="8255000" y="993030"/>
                    <a:pt x="8251706" y="1000981"/>
                    <a:pt x="8245844" y="1006844"/>
                  </a:cubicBezTo>
                  <a:cubicBezTo>
                    <a:pt x="8239981" y="1012706"/>
                    <a:pt x="8232029" y="1016000"/>
                    <a:pt x="8223738" y="1016000"/>
                  </a:cubicBezTo>
                  <a:lnTo>
                    <a:pt x="31262" y="1016000"/>
                  </a:lnTo>
                  <a:cubicBezTo>
                    <a:pt x="22970" y="1016000"/>
                    <a:pt x="15019" y="1012706"/>
                    <a:pt x="9156" y="1006844"/>
                  </a:cubicBezTo>
                  <a:cubicBezTo>
                    <a:pt x="3294" y="1000981"/>
                    <a:pt x="0" y="993030"/>
                    <a:pt x="0" y="984738"/>
                  </a:cubicBezTo>
                  <a:lnTo>
                    <a:pt x="0" y="31262"/>
                  </a:lnTo>
                  <a:cubicBezTo>
                    <a:pt x="0" y="22970"/>
                    <a:pt x="3294" y="15019"/>
                    <a:pt x="9156" y="9156"/>
                  </a:cubicBezTo>
                  <a:cubicBezTo>
                    <a:pt x="15019" y="3294"/>
                    <a:pt x="22970" y="0"/>
                    <a:pt x="3126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9525"/>
              <a:ext cx="8255000" cy="1006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SHIP AGENT</a:t>
              </a:r>
            </a:p>
          </p:txBody>
        </p:sp>
      </p:grpSp>
      <p:sp>
        <p:nvSpPr>
          <p:cNvPr id="42" name="TextBox 22">
            <a:extLst>
              <a:ext uri="{FF2B5EF4-FFF2-40B4-BE49-F238E27FC236}">
                <a16:creationId xmlns:a16="http://schemas.microsoft.com/office/drawing/2014/main" id="{DD9AEC3A-3C3D-94F5-DE90-61D95CE6D729}"/>
              </a:ext>
            </a:extLst>
          </p:cNvPr>
          <p:cNvSpPr txBox="1"/>
          <p:nvPr/>
        </p:nvSpPr>
        <p:spPr>
          <a:xfrm>
            <a:off x="990600" y="9667875"/>
            <a:ext cx="4762500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b="1" spc="144" dirty="0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PortsPilot 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0600" y="590550"/>
            <a:ext cx="11430000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b="1" spc="162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IMPLEMENTED ARCHITECTURE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90600" y="1076325"/>
            <a:ext cx="14287500" cy="830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5400" b="1">
                <a:solidFill>
                  <a:srgbClr val="10293F"/>
                </a:solidFill>
                <a:latin typeface="DM Sans Bold"/>
                <a:ea typeface="DM Sans Bold"/>
                <a:cs typeface="DM Sans Bold"/>
                <a:sym typeface="DM Sans Bold"/>
              </a:rPr>
              <a:t>Built as a real operational system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649700" y="438150"/>
            <a:ext cx="647700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lang="en-US" sz="2400">
                <a:solidFill>
                  <a:srgbClr val="597084"/>
                </a:solidFill>
                <a:latin typeface="DM Sans"/>
                <a:ea typeface="DM Sans"/>
                <a:cs typeface="DM Sans"/>
                <a:sym typeface="DM Sans"/>
              </a:rPr>
              <a:t>14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428750" y="2714625"/>
            <a:ext cx="15430500" cy="876300"/>
            <a:chOff x="0" y="0"/>
            <a:chExt cx="20574000" cy="11684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20574000" cy="1168400"/>
              <a:chOff x="0" y="0"/>
              <a:chExt cx="20574000" cy="11684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20574000" cy="1168400"/>
              </a:xfrm>
              <a:custGeom>
                <a:avLst/>
                <a:gdLst/>
                <a:ahLst/>
                <a:cxnLst/>
                <a:rect l="l" t="t" r="r" b="b"/>
                <a:pathLst>
                  <a:path w="20574000" h="1168400">
                    <a:moveTo>
                      <a:pt x="0" y="0"/>
                    </a:moveTo>
                    <a:lnTo>
                      <a:pt x="20574000" y="0"/>
                    </a:lnTo>
                    <a:lnTo>
                      <a:pt x="20574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20574000" cy="1206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/>
                <a:endParaRPr sz="2800"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571500" y="228600"/>
              <a:ext cx="5334000" cy="4103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000" b="1">
                  <a:solidFill>
                    <a:srgbClr val="00A7C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REACT FRONTEND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69000" y="276225"/>
              <a:ext cx="12954000" cy="4924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/>
              <a:r>
                <a:rPr lang="en-US" sz="2400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TypeScript • Vite • Tailwind • shadcn/ui • Recharts • Lucide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9144000" y="3609975"/>
            <a:ext cx="0" cy="266700"/>
          </a:xfrm>
          <a:prstGeom prst="line">
            <a:avLst/>
          </a:prstGeom>
          <a:ln w="28575" cap="flat">
            <a:solidFill>
              <a:srgbClr val="00A7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15" name="Group 15"/>
          <p:cNvGrpSpPr/>
          <p:nvPr/>
        </p:nvGrpSpPr>
        <p:grpSpPr>
          <a:xfrm>
            <a:off x="1885950" y="3933825"/>
            <a:ext cx="14516100" cy="876300"/>
            <a:chOff x="0" y="0"/>
            <a:chExt cx="19354800" cy="116840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9354800" cy="1168400"/>
              <a:chOff x="0" y="0"/>
              <a:chExt cx="19354800" cy="11684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9354800" cy="1168400"/>
              </a:xfrm>
              <a:custGeom>
                <a:avLst/>
                <a:gdLst/>
                <a:ahLst/>
                <a:cxnLst/>
                <a:rect l="l" t="t" r="r" b="b"/>
                <a:pathLst>
                  <a:path w="19354800" h="1168400">
                    <a:moveTo>
                      <a:pt x="0" y="0"/>
                    </a:moveTo>
                    <a:lnTo>
                      <a:pt x="19354800" y="0"/>
                    </a:lnTo>
                    <a:lnTo>
                      <a:pt x="193548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9354800" cy="1206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/>
                <a:endParaRPr sz="2800"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571500" y="228600"/>
              <a:ext cx="5334000" cy="4103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000" b="1">
                  <a:solidFill>
                    <a:srgbClr val="00A7C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FASTAPI BACKEND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740400" y="276225"/>
              <a:ext cx="11811000" cy="4924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/>
              <a:r>
                <a:rPr lang="en-US" sz="2400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Python • Pydantic • SQLAlchemy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>
            <a:off x="9144000" y="4829175"/>
            <a:ext cx="0" cy="266700"/>
          </a:xfrm>
          <a:prstGeom prst="line">
            <a:avLst/>
          </a:prstGeom>
          <a:ln w="28575" cap="flat">
            <a:solidFill>
              <a:srgbClr val="00A7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2" name="Group 22"/>
          <p:cNvGrpSpPr/>
          <p:nvPr/>
        </p:nvGrpSpPr>
        <p:grpSpPr>
          <a:xfrm>
            <a:off x="2343150" y="5153025"/>
            <a:ext cx="13601700" cy="876300"/>
            <a:chOff x="0" y="0"/>
            <a:chExt cx="18135600" cy="1168400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18135600" cy="1168400"/>
              <a:chOff x="0" y="0"/>
              <a:chExt cx="18135600" cy="11684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8135600" cy="1168400"/>
              </a:xfrm>
              <a:custGeom>
                <a:avLst/>
                <a:gdLst/>
                <a:ahLst/>
                <a:cxnLst/>
                <a:rect l="l" t="t" r="r" b="b"/>
                <a:pathLst>
                  <a:path w="18135600" h="1168400">
                    <a:moveTo>
                      <a:pt x="0" y="0"/>
                    </a:moveTo>
                    <a:lnTo>
                      <a:pt x="18135600" y="0"/>
                    </a:lnTo>
                    <a:lnTo>
                      <a:pt x="181356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18135600" cy="1206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/>
                <a:endParaRPr sz="2800"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571500" y="228600"/>
              <a:ext cx="5334000" cy="4103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000" b="1">
                  <a:solidFill>
                    <a:srgbClr val="00A7C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OPERATIONAL SERVICES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511800" y="276225"/>
              <a:ext cx="10668000" cy="4924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/>
              <a:r>
                <a:rPr lang="en-US" sz="2400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Vessels • Berths • Cranes • Planning • Routes</a:t>
              </a:r>
            </a:p>
          </p:txBody>
        </p:sp>
      </p:grpSp>
      <p:sp>
        <p:nvSpPr>
          <p:cNvPr id="28" name="AutoShape 28"/>
          <p:cNvSpPr/>
          <p:nvPr/>
        </p:nvSpPr>
        <p:spPr>
          <a:xfrm>
            <a:off x="9144000" y="6048375"/>
            <a:ext cx="0" cy="266700"/>
          </a:xfrm>
          <a:prstGeom prst="line">
            <a:avLst/>
          </a:prstGeom>
          <a:ln w="28575" cap="flat">
            <a:solidFill>
              <a:srgbClr val="00A7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9" name="Group 29"/>
          <p:cNvGrpSpPr/>
          <p:nvPr/>
        </p:nvGrpSpPr>
        <p:grpSpPr>
          <a:xfrm>
            <a:off x="2800350" y="6372225"/>
            <a:ext cx="12687300" cy="876300"/>
            <a:chOff x="0" y="0"/>
            <a:chExt cx="16916400" cy="1168400"/>
          </a:xfrm>
        </p:grpSpPr>
        <p:grpSp>
          <p:nvGrpSpPr>
            <p:cNvPr id="30" name="Group 30"/>
            <p:cNvGrpSpPr/>
            <p:nvPr/>
          </p:nvGrpSpPr>
          <p:grpSpPr>
            <a:xfrm>
              <a:off x="0" y="0"/>
              <a:ext cx="16916400" cy="1168400"/>
              <a:chOff x="0" y="0"/>
              <a:chExt cx="16916400" cy="11684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6916400" cy="1168400"/>
              </a:xfrm>
              <a:custGeom>
                <a:avLst/>
                <a:gdLst/>
                <a:ahLst/>
                <a:cxnLst/>
                <a:rect l="l" t="t" r="r" b="b"/>
                <a:pathLst>
                  <a:path w="16916400" h="1168400">
                    <a:moveTo>
                      <a:pt x="0" y="0"/>
                    </a:moveTo>
                    <a:lnTo>
                      <a:pt x="16916400" y="0"/>
                    </a:lnTo>
                    <a:lnTo>
                      <a:pt x="169164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071B3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0" y="-38100"/>
                <a:ext cx="16916400" cy="1206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/>
                <a:endParaRPr sz="2800"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571500" y="228600"/>
              <a:ext cx="5334000" cy="4103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000" b="1">
                  <a:solidFill>
                    <a:srgbClr val="16B3A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INTELLIGENCE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83199" y="276225"/>
              <a:ext cx="11353799" cy="49244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/>
              <a:r>
                <a:rPr lang="en-US" sz="2400" dirty="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scikit-learn • OR-Tools • Simulation • Pandas • NumPy</a:t>
              </a:r>
            </a:p>
          </p:txBody>
        </p:sp>
      </p:grpSp>
      <p:sp>
        <p:nvSpPr>
          <p:cNvPr id="35" name="AutoShape 35"/>
          <p:cNvSpPr/>
          <p:nvPr/>
        </p:nvSpPr>
        <p:spPr>
          <a:xfrm>
            <a:off x="9144000" y="7267575"/>
            <a:ext cx="0" cy="266700"/>
          </a:xfrm>
          <a:prstGeom prst="line">
            <a:avLst/>
          </a:prstGeom>
          <a:ln w="28575" cap="flat">
            <a:solidFill>
              <a:srgbClr val="00A7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36" name="Group 36"/>
          <p:cNvGrpSpPr/>
          <p:nvPr/>
        </p:nvGrpSpPr>
        <p:grpSpPr>
          <a:xfrm>
            <a:off x="3257550" y="7591425"/>
            <a:ext cx="11772900" cy="876300"/>
            <a:chOff x="0" y="0"/>
            <a:chExt cx="15697200" cy="1168400"/>
          </a:xfrm>
        </p:grpSpPr>
        <p:grpSp>
          <p:nvGrpSpPr>
            <p:cNvPr id="37" name="Group 37"/>
            <p:cNvGrpSpPr/>
            <p:nvPr/>
          </p:nvGrpSpPr>
          <p:grpSpPr>
            <a:xfrm>
              <a:off x="0" y="0"/>
              <a:ext cx="15697200" cy="1168400"/>
              <a:chOff x="0" y="0"/>
              <a:chExt cx="15697200" cy="11684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15697200" cy="1168400"/>
              </a:xfrm>
              <a:custGeom>
                <a:avLst/>
                <a:gdLst/>
                <a:ahLst/>
                <a:cxnLst/>
                <a:rect l="l" t="t" r="r" b="b"/>
                <a:pathLst>
                  <a:path w="15697200" h="1168400">
                    <a:moveTo>
                      <a:pt x="0" y="0"/>
                    </a:moveTo>
                    <a:lnTo>
                      <a:pt x="15697200" y="0"/>
                    </a:lnTo>
                    <a:lnTo>
                      <a:pt x="156972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-38100"/>
                <a:ext cx="15697200" cy="1206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/>
                <a:endParaRPr sz="2800"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571500" y="228600"/>
              <a:ext cx="5334000" cy="4103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000" b="1">
                  <a:solidFill>
                    <a:srgbClr val="00A7C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DATA + AI LAYER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054600" y="276225"/>
              <a:ext cx="8382000" cy="4924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/>
              <a:r>
                <a:rPr lang="en-US" sz="2400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SQLite • Google Gemini API</a:t>
              </a:r>
            </a:p>
          </p:txBody>
        </p:sp>
      </p:grpSp>
      <p:sp>
        <p:nvSpPr>
          <p:cNvPr id="46" name="TextBox 22">
            <a:extLst>
              <a:ext uri="{FF2B5EF4-FFF2-40B4-BE49-F238E27FC236}">
                <a16:creationId xmlns:a16="http://schemas.microsoft.com/office/drawing/2014/main" id="{D8CDD1A8-7E64-0E60-F06A-4CAA3A189631}"/>
              </a:ext>
            </a:extLst>
          </p:cNvPr>
          <p:cNvSpPr txBox="1"/>
          <p:nvPr/>
        </p:nvSpPr>
        <p:spPr>
          <a:xfrm>
            <a:off x="990600" y="9667875"/>
            <a:ext cx="4762500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b="1" spc="144" dirty="0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PortsPilot AI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0600" y="590550"/>
            <a:ext cx="11430000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b="1" spc="162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END-TO-END DEMO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90600" y="1076325"/>
            <a:ext cx="14287500" cy="830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5400" b="1">
                <a:solidFill>
                  <a:srgbClr val="10293F"/>
                </a:solidFill>
                <a:latin typeface="DM Sans Bold"/>
                <a:ea typeface="DM Sans Bold"/>
                <a:cs typeface="DM Sans Bold"/>
                <a:sym typeface="DM Sans Bold"/>
              </a:rPr>
              <a:t>From first signal to final decision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649700" y="438150"/>
            <a:ext cx="647700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lang="en-US" sz="2400">
                <a:solidFill>
                  <a:srgbClr val="597084"/>
                </a:solidFill>
                <a:latin typeface="DM Sans"/>
                <a:ea typeface="DM Sans"/>
                <a:cs typeface="DM Sans"/>
                <a:sym typeface="DM Sans"/>
              </a:rPr>
              <a:t>15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428750" y="2619375"/>
            <a:ext cx="6191250" cy="742950"/>
            <a:chOff x="0" y="0"/>
            <a:chExt cx="8255000" cy="990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255000" cy="990600"/>
            </a:xfrm>
            <a:custGeom>
              <a:avLst/>
              <a:gdLst/>
              <a:ahLst/>
              <a:cxnLst/>
              <a:rect l="l" t="t" r="r" b="b"/>
              <a:pathLst>
                <a:path w="8255000" h="990600">
                  <a:moveTo>
                    <a:pt x="31262" y="0"/>
                  </a:moveTo>
                  <a:lnTo>
                    <a:pt x="8223738" y="0"/>
                  </a:lnTo>
                  <a:cubicBezTo>
                    <a:pt x="8232029" y="0"/>
                    <a:pt x="8239981" y="3294"/>
                    <a:pt x="8245844" y="9156"/>
                  </a:cubicBezTo>
                  <a:cubicBezTo>
                    <a:pt x="8251706" y="15019"/>
                    <a:pt x="8255000" y="22970"/>
                    <a:pt x="8255000" y="31262"/>
                  </a:cubicBezTo>
                  <a:lnTo>
                    <a:pt x="8255000" y="959338"/>
                  </a:lnTo>
                  <a:cubicBezTo>
                    <a:pt x="8255000" y="967630"/>
                    <a:pt x="8251706" y="975581"/>
                    <a:pt x="8245844" y="981444"/>
                  </a:cubicBezTo>
                  <a:cubicBezTo>
                    <a:pt x="8239981" y="987306"/>
                    <a:pt x="8232029" y="990600"/>
                    <a:pt x="8223738" y="990600"/>
                  </a:cubicBezTo>
                  <a:lnTo>
                    <a:pt x="31262" y="990600"/>
                  </a:lnTo>
                  <a:cubicBezTo>
                    <a:pt x="22970" y="990600"/>
                    <a:pt x="15019" y="987306"/>
                    <a:pt x="9156" y="981444"/>
                  </a:cubicBezTo>
                  <a:cubicBezTo>
                    <a:pt x="3294" y="975581"/>
                    <a:pt x="0" y="967630"/>
                    <a:pt x="0" y="959338"/>
                  </a:cubicBezTo>
                  <a:lnTo>
                    <a:pt x="0" y="31262"/>
                  </a:lnTo>
                  <a:cubicBezTo>
                    <a:pt x="0" y="22970"/>
                    <a:pt x="3294" y="15019"/>
                    <a:pt x="9156" y="9156"/>
                  </a:cubicBezTo>
                  <a:cubicBezTo>
                    <a:pt x="15019" y="3294"/>
                    <a:pt x="22970" y="0"/>
                    <a:pt x="31262" y="0"/>
                  </a:cubicBezTo>
                  <a:close/>
                </a:path>
              </a:pathLst>
            </a:custGeom>
            <a:solidFill>
              <a:srgbClr val="E7F1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525"/>
              <a:ext cx="8255000" cy="981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  NORMAL OPERATIONS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4524375" y="3381375"/>
            <a:ext cx="0" cy="361950"/>
          </a:xfrm>
          <a:prstGeom prst="line">
            <a:avLst/>
          </a:prstGeom>
          <a:ln w="28575" cap="flat">
            <a:solidFill>
              <a:srgbClr val="00A7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12" name="Group 12"/>
          <p:cNvGrpSpPr/>
          <p:nvPr/>
        </p:nvGrpSpPr>
        <p:grpSpPr>
          <a:xfrm>
            <a:off x="1428750" y="3810000"/>
            <a:ext cx="6191250" cy="742950"/>
            <a:chOff x="0" y="0"/>
            <a:chExt cx="8255000" cy="990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255000" cy="990600"/>
            </a:xfrm>
            <a:custGeom>
              <a:avLst/>
              <a:gdLst/>
              <a:ahLst/>
              <a:cxnLst/>
              <a:rect l="l" t="t" r="r" b="b"/>
              <a:pathLst>
                <a:path w="8255000" h="990600">
                  <a:moveTo>
                    <a:pt x="31262" y="0"/>
                  </a:moveTo>
                  <a:lnTo>
                    <a:pt x="8223738" y="0"/>
                  </a:lnTo>
                  <a:cubicBezTo>
                    <a:pt x="8232029" y="0"/>
                    <a:pt x="8239981" y="3294"/>
                    <a:pt x="8245844" y="9156"/>
                  </a:cubicBezTo>
                  <a:cubicBezTo>
                    <a:pt x="8251706" y="15019"/>
                    <a:pt x="8255000" y="22970"/>
                    <a:pt x="8255000" y="31262"/>
                  </a:cubicBezTo>
                  <a:lnTo>
                    <a:pt x="8255000" y="959338"/>
                  </a:lnTo>
                  <a:cubicBezTo>
                    <a:pt x="8255000" y="967630"/>
                    <a:pt x="8251706" y="975581"/>
                    <a:pt x="8245844" y="981444"/>
                  </a:cubicBezTo>
                  <a:cubicBezTo>
                    <a:pt x="8239981" y="987306"/>
                    <a:pt x="8232029" y="990600"/>
                    <a:pt x="8223738" y="990600"/>
                  </a:cubicBezTo>
                  <a:lnTo>
                    <a:pt x="31262" y="990600"/>
                  </a:lnTo>
                  <a:cubicBezTo>
                    <a:pt x="22970" y="990600"/>
                    <a:pt x="15019" y="987306"/>
                    <a:pt x="9156" y="981444"/>
                  </a:cubicBezTo>
                  <a:cubicBezTo>
                    <a:pt x="3294" y="975581"/>
                    <a:pt x="0" y="967630"/>
                    <a:pt x="0" y="959338"/>
                  </a:cubicBezTo>
                  <a:lnTo>
                    <a:pt x="0" y="31262"/>
                  </a:lnTo>
                  <a:cubicBezTo>
                    <a:pt x="0" y="22970"/>
                    <a:pt x="3294" y="15019"/>
                    <a:pt x="9156" y="9156"/>
                  </a:cubicBezTo>
                  <a:cubicBezTo>
                    <a:pt x="15019" y="3294"/>
                    <a:pt x="22970" y="0"/>
                    <a:pt x="31262" y="0"/>
                  </a:cubicBezTo>
                  <a:close/>
                </a:path>
              </a:pathLst>
            </a:custGeom>
            <a:solidFill>
              <a:srgbClr val="E7F1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8255000" cy="981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  VESSEL SURGE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4524375" y="4572000"/>
            <a:ext cx="0" cy="361950"/>
          </a:xfrm>
          <a:prstGeom prst="line">
            <a:avLst/>
          </a:prstGeom>
          <a:ln w="28575" cap="flat">
            <a:solidFill>
              <a:srgbClr val="00A7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16" name="Group 16"/>
          <p:cNvGrpSpPr/>
          <p:nvPr/>
        </p:nvGrpSpPr>
        <p:grpSpPr>
          <a:xfrm>
            <a:off x="1428750" y="5000625"/>
            <a:ext cx="6191250" cy="742950"/>
            <a:chOff x="0" y="0"/>
            <a:chExt cx="8255000" cy="9906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255000" cy="990600"/>
            </a:xfrm>
            <a:custGeom>
              <a:avLst/>
              <a:gdLst/>
              <a:ahLst/>
              <a:cxnLst/>
              <a:rect l="l" t="t" r="r" b="b"/>
              <a:pathLst>
                <a:path w="8255000" h="990600">
                  <a:moveTo>
                    <a:pt x="31262" y="0"/>
                  </a:moveTo>
                  <a:lnTo>
                    <a:pt x="8223738" y="0"/>
                  </a:lnTo>
                  <a:cubicBezTo>
                    <a:pt x="8232029" y="0"/>
                    <a:pt x="8239981" y="3294"/>
                    <a:pt x="8245844" y="9156"/>
                  </a:cubicBezTo>
                  <a:cubicBezTo>
                    <a:pt x="8251706" y="15019"/>
                    <a:pt x="8255000" y="22970"/>
                    <a:pt x="8255000" y="31262"/>
                  </a:cubicBezTo>
                  <a:lnTo>
                    <a:pt x="8255000" y="959338"/>
                  </a:lnTo>
                  <a:cubicBezTo>
                    <a:pt x="8255000" y="967630"/>
                    <a:pt x="8251706" y="975581"/>
                    <a:pt x="8245844" y="981444"/>
                  </a:cubicBezTo>
                  <a:cubicBezTo>
                    <a:pt x="8239981" y="987306"/>
                    <a:pt x="8232029" y="990600"/>
                    <a:pt x="8223738" y="990600"/>
                  </a:cubicBezTo>
                  <a:lnTo>
                    <a:pt x="31262" y="990600"/>
                  </a:lnTo>
                  <a:cubicBezTo>
                    <a:pt x="22970" y="990600"/>
                    <a:pt x="15019" y="987306"/>
                    <a:pt x="9156" y="981444"/>
                  </a:cubicBezTo>
                  <a:cubicBezTo>
                    <a:pt x="3294" y="975581"/>
                    <a:pt x="0" y="967630"/>
                    <a:pt x="0" y="959338"/>
                  </a:cubicBezTo>
                  <a:lnTo>
                    <a:pt x="0" y="31262"/>
                  </a:lnTo>
                  <a:cubicBezTo>
                    <a:pt x="0" y="22970"/>
                    <a:pt x="3294" y="15019"/>
                    <a:pt x="9156" y="9156"/>
                  </a:cubicBezTo>
                  <a:cubicBezTo>
                    <a:pt x="15019" y="3294"/>
                    <a:pt x="22970" y="0"/>
                    <a:pt x="31262" y="0"/>
                  </a:cubicBezTo>
                  <a:close/>
                </a:path>
              </a:pathLst>
            </a:custGeom>
            <a:solidFill>
              <a:srgbClr val="071B3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8255000" cy="981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  B04 RISK DETECTED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>
            <a:off x="4524375" y="5762625"/>
            <a:ext cx="0" cy="361950"/>
          </a:xfrm>
          <a:prstGeom prst="line">
            <a:avLst/>
          </a:prstGeom>
          <a:ln w="28575" cap="flat">
            <a:solidFill>
              <a:srgbClr val="00A7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0" name="Group 20"/>
          <p:cNvGrpSpPr/>
          <p:nvPr/>
        </p:nvGrpSpPr>
        <p:grpSpPr>
          <a:xfrm>
            <a:off x="1428750" y="6191250"/>
            <a:ext cx="6191250" cy="742950"/>
            <a:chOff x="0" y="0"/>
            <a:chExt cx="8255000" cy="9906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255000" cy="990600"/>
            </a:xfrm>
            <a:custGeom>
              <a:avLst/>
              <a:gdLst/>
              <a:ahLst/>
              <a:cxnLst/>
              <a:rect l="l" t="t" r="r" b="b"/>
              <a:pathLst>
                <a:path w="8255000" h="990600">
                  <a:moveTo>
                    <a:pt x="31262" y="0"/>
                  </a:moveTo>
                  <a:lnTo>
                    <a:pt x="8223738" y="0"/>
                  </a:lnTo>
                  <a:cubicBezTo>
                    <a:pt x="8232029" y="0"/>
                    <a:pt x="8239981" y="3294"/>
                    <a:pt x="8245844" y="9156"/>
                  </a:cubicBezTo>
                  <a:cubicBezTo>
                    <a:pt x="8251706" y="15019"/>
                    <a:pt x="8255000" y="22970"/>
                    <a:pt x="8255000" y="31262"/>
                  </a:cubicBezTo>
                  <a:lnTo>
                    <a:pt x="8255000" y="959338"/>
                  </a:lnTo>
                  <a:cubicBezTo>
                    <a:pt x="8255000" y="967630"/>
                    <a:pt x="8251706" y="975581"/>
                    <a:pt x="8245844" y="981444"/>
                  </a:cubicBezTo>
                  <a:cubicBezTo>
                    <a:pt x="8239981" y="987306"/>
                    <a:pt x="8232029" y="990600"/>
                    <a:pt x="8223738" y="990600"/>
                  </a:cubicBezTo>
                  <a:lnTo>
                    <a:pt x="31262" y="990600"/>
                  </a:lnTo>
                  <a:cubicBezTo>
                    <a:pt x="22970" y="990600"/>
                    <a:pt x="15019" y="987306"/>
                    <a:pt x="9156" y="981444"/>
                  </a:cubicBezTo>
                  <a:cubicBezTo>
                    <a:pt x="3294" y="975581"/>
                    <a:pt x="0" y="967630"/>
                    <a:pt x="0" y="959338"/>
                  </a:cubicBezTo>
                  <a:lnTo>
                    <a:pt x="0" y="31262"/>
                  </a:lnTo>
                  <a:cubicBezTo>
                    <a:pt x="0" y="22970"/>
                    <a:pt x="3294" y="15019"/>
                    <a:pt x="9156" y="9156"/>
                  </a:cubicBezTo>
                  <a:cubicBezTo>
                    <a:pt x="15019" y="3294"/>
                    <a:pt x="22970" y="0"/>
                    <a:pt x="31262" y="0"/>
                  </a:cubicBezTo>
                  <a:close/>
                </a:path>
              </a:pathLst>
            </a:custGeom>
            <a:solidFill>
              <a:srgbClr val="E7F1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9525"/>
              <a:ext cx="8255000" cy="981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4  ML EXPLAINS DRIVERS</a:t>
              </a:r>
            </a:p>
          </p:txBody>
        </p:sp>
      </p:grpSp>
      <p:sp>
        <p:nvSpPr>
          <p:cNvPr id="23" name="AutoShape 23"/>
          <p:cNvSpPr/>
          <p:nvPr/>
        </p:nvSpPr>
        <p:spPr>
          <a:xfrm>
            <a:off x="4524375" y="6953250"/>
            <a:ext cx="0" cy="361950"/>
          </a:xfrm>
          <a:prstGeom prst="line">
            <a:avLst/>
          </a:prstGeom>
          <a:ln w="28575" cap="flat">
            <a:solidFill>
              <a:srgbClr val="00A7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4" name="Group 24"/>
          <p:cNvGrpSpPr/>
          <p:nvPr/>
        </p:nvGrpSpPr>
        <p:grpSpPr>
          <a:xfrm>
            <a:off x="1428750" y="7381875"/>
            <a:ext cx="6191250" cy="742950"/>
            <a:chOff x="0" y="0"/>
            <a:chExt cx="8255000" cy="9906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255000" cy="990600"/>
            </a:xfrm>
            <a:custGeom>
              <a:avLst/>
              <a:gdLst/>
              <a:ahLst/>
              <a:cxnLst/>
              <a:rect l="l" t="t" r="r" b="b"/>
              <a:pathLst>
                <a:path w="8255000" h="990600">
                  <a:moveTo>
                    <a:pt x="31262" y="0"/>
                  </a:moveTo>
                  <a:lnTo>
                    <a:pt x="8223738" y="0"/>
                  </a:lnTo>
                  <a:cubicBezTo>
                    <a:pt x="8232029" y="0"/>
                    <a:pt x="8239981" y="3294"/>
                    <a:pt x="8245844" y="9156"/>
                  </a:cubicBezTo>
                  <a:cubicBezTo>
                    <a:pt x="8251706" y="15019"/>
                    <a:pt x="8255000" y="22970"/>
                    <a:pt x="8255000" y="31262"/>
                  </a:cubicBezTo>
                  <a:lnTo>
                    <a:pt x="8255000" y="959338"/>
                  </a:lnTo>
                  <a:cubicBezTo>
                    <a:pt x="8255000" y="967630"/>
                    <a:pt x="8251706" y="975581"/>
                    <a:pt x="8245844" y="981444"/>
                  </a:cubicBezTo>
                  <a:cubicBezTo>
                    <a:pt x="8239981" y="987306"/>
                    <a:pt x="8232029" y="990600"/>
                    <a:pt x="8223738" y="990600"/>
                  </a:cubicBezTo>
                  <a:lnTo>
                    <a:pt x="31262" y="990600"/>
                  </a:lnTo>
                  <a:cubicBezTo>
                    <a:pt x="22970" y="990600"/>
                    <a:pt x="15019" y="987306"/>
                    <a:pt x="9156" y="981444"/>
                  </a:cubicBezTo>
                  <a:cubicBezTo>
                    <a:pt x="3294" y="975581"/>
                    <a:pt x="0" y="967630"/>
                    <a:pt x="0" y="959338"/>
                  </a:cubicBezTo>
                  <a:lnTo>
                    <a:pt x="0" y="31262"/>
                  </a:lnTo>
                  <a:cubicBezTo>
                    <a:pt x="0" y="22970"/>
                    <a:pt x="3294" y="15019"/>
                    <a:pt x="9156" y="9156"/>
                  </a:cubicBezTo>
                  <a:cubicBezTo>
                    <a:pt x="15019" y="3294"/>
                    <a:pt x="22970" y="0"/>
                    <a:pt x="31262" y="0"/>
                  </a:cubicBezTo>
                  <a:close/>
                </a:path>
              </a:pathLst>
            </a:custGeom>
            <a:solidFill>
              <a:srgbClr val="E7F1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9525"/>
              <a:ext cx="8255000" cy="981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5  OR-TOOLS RECOMMENDS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001250" y="2619375"/>
            <a:ext cx="6191250" cy="742950"/>
            <a:chOff x="0" y="0"/>
            <a:chExt cx="8255000" cy="9906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255000" cy="990600"/>
            </a:xfrm>
            <a:custGeom>
              <a:avLst/>
              <a:gdLst/>
              <a:ahLst/>
              <a:cxnLst/>
              <a:rect l="l" t="t" r="r" b="b"/>
              <a:pathLst>
                <a:path w="8255000" h="990600">
                  <a:moveTo>
                    <a:pt x="31262" y="0"/>
                  </a:moveTo>
                  <a:lnTo>
                    <a:pt x="8223738" y="0"/>
                  </a:lnTo>
                  <a:cubicBezTo>
                    <a:pt x="8232029" y="0"/>
                    <a:pt x="8239981" y="3294"/>
                    <a:pt x="8245844" y="9156"/>
                  </a:cubicBezTo>
                  <a:cubicBezTo>
                    <a:pt x="8251706" y="15019"/>
                    <a:pt x="8255000" y="22970"/>
                    <a:pt x="8255000" y="31262"/>
                  </a:cubicBezTo>
                  <a:lnTo>
                    <a:pt x="8255000" y="959338"/>
                  </a:lnTo>
                  <a:cubicBezTo>
                    <a:pt x="8255000" y="967630"/>
                    <a:pt x="8251706" y="975581"/>
                    <a:pt x="8245844" y="981444"/>
                  </a:cubicBezTo>
                  <a:cubicBezTo>
                    <a:pt x="8239981" y="987306"/>
                    <a:pt x="8232029" y="990600"/>
                    <a:pt x="8223738" y="990600"/>
                  </a:cubicBezTo>
                  <a:lnTo>
                    <a:pt x="31262" y="990600"/>
                  </a:lnTo>
                  <a:cubicBezTo>
                    <a:pt x="22970" y="990600"/>
                    <a:pt x="15019" y="987306"/>
                    <a:pt x="9156" y="981444"/>
                  </a:cubicBezTo>
                  <a:cubicBezTo>
                    <a:pt x="3294" y="975581"/>
                    <a:pt x="0" y="967630"/>
                    <a:pt x="0" y="959338"/>
                  </a:cubicBezTo>
                  <a:lnTo>
                    <a:pt x="0" y="31262"/>
                  </a:lnTo>
                  <a:cubicBezTo>
                    <a:pt x="0" y="22970"/>
                    <a:pt x="3294" y="15019"/>
                    <a:pt x="9156" y="9156"/>
                  </a:cubicBezTo>
                  <a:cubicBezTo>
                    <a:pt x="15019" y="3294"/>
                    <a:pt x="22970" y="0"/>
                    <a:pt x="31262" y="0"/>
                  </a:cubicBezTo>
                  <a:close/>
                </a:path>
              </a:pathLst>
            </a:custGeom>
            <a:solidFill>
              <a:srgbClr val="E7F1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9525"/>
              <a:ext cx="8255000" cy="981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6  OPERATOR APPLIES PLAN</a:t>
              </a:r>
            </a:p>
          </p:txBody>
        </p:sp>
      </p:grpSp>
      <p:sp>
        <p:nvSpPr>
          <p:cNvPr id="30" name="AutoShape 30"/>
          <p:cNvSpPr/>
          <p:nvPr/>
        </p:nvSpPr>
        <p:spPr>
          <a:xfrm>
            <a:off x="13096875" y="3381375"/>
            <a:ext cx="0" cy="361950"/>
          </a:xfrm>
          <a:prstGeom prst="line">
            <a:avLst/>
          </a:prstGeom>
          <a:ln w="28575" cap="flat">
            <a:solidFill>
              <a:srgbClr val="00A7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31" name="Group 31"/>
          <p:cNvGrpSpPr/>
          <p:nvPr/>
        </p:nvGrpSpPr>
        <p:grpSpPr>
          <a:xfrm>
            <a:off x="10001250" y="3810000"/>
            <a:ext cx="6191250" cy="742950"/>
            <a:chOff x="0" y="0"/>
            <a:chExt cx="8255000" cy="9906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255000" cy="990600"/>
            </a:xfrm>
            <a:custGeom>
              <a:avLst/>
              <a:gdLst/>
              <a:ahLst/>
              <a:cxnLst/>
              <a:rect l="l" t="t" r="r" b="b"/>
              <a:pathLst>
                <a:path w="8255000" h="990600">
                  <a:moveTo>
                    <a:pt x="31262" y="0"/>
                  </a:moveTo>
                  <a:lnTo>
                    <a:pt x="8223738" y="0"/>
                  </a:lnTo>
                  <a:cubicBezTo>
                    <a:pt x="8232029" y="0"/>
                    <a:pt x="8239981" y="3294"/>
                    <a:pt x="8245844" y="9156"/>
                  </a:cubicBezTo>
                  <a:cubicBezTo>
                    <a:pt x="8251706" y="15019"/>
                    <a:pt x="8255000" y="22970"/>
                    <a:pt x="8255000" y="31262"/>
                  </a:cubicBezTo>
                  <a:lnTo>
                    <a:pt x="8255000" y="959338"/>
                  </a:lnTo>
                  <a:cubicBezTo>
                    <a:pt x="8255000" y="967630"/>
                    <a:pt x="8251706" y="975581"/>
                    <a:pt x="8245844" y="981444"/>
                  </a:cubicBezTo>
                  <a:cubicBezTo>
                    <a:pt x="8239981" y="987306"/>
                    <a:pt x="8232029" y="990600"/>
                    <a:pt x="8223738" y="990600"/>
                  </a:cubicBezTo>
                  <a:lnTo>
                    <a:pt x="31262" y="990600"/>
                  </a:lnTo>
                  <a:cubicBezTo>
                    <a:pt x="22970" y="990600"/>
                    <a:pt x="15019" y="987306"/>
                    <a:pt x="9156" y="981444"/>
                  </a:cubicBezTo>
                  <a:cubicBezTo>
                    <a:pt x="3294" y="975581"/>
                    <a:pt x="0" y="967630"/>
                    <a:pt x="0" y="959338"/>
                  </a:cubicBezTo>
                  <a:lnTo>
                    <a:pt x="0" y="31262"/>
                  </a:lnTo>
                  <a:cubicBezTo>
                    <a:pt x="0" y="22970"/>
                    <a:pt x="3294" y="15019"/>
                    <a:pt x="9156" y="9156"/>
                  </a:cubicBezTo>
                  <a:cubicBezTo>
                    <a:pt x="15019" y="3294"/>
                    <a:pt x="22970" y="0"/>
                    <a:pt x="31262" y="0"/>
                  </a:cubicBezTo>
                  <a:close/>
                </a:path>
              </a:pathLst>
            </a:custGeom>
            <a:solidFill>
              <a:srgbClr val="E7F1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9525"/>
              <a:ext cx="8255000" cy="981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7  CRANE FAILURE SIMULATED</a:t>
              </a:r>
            </a:p>
          </p:txBody>
        </p:sp>
      </p:grpSp>
      <p:sp>
        <p:nvSpPr>
          <p:cNvPr id="34" name="AutoShape 34"/>
          <p:cNvSpPr/>
          <p:nvPr/>
        </p:nvSpPr>
        <p:spPr>
          <a:xfrm>
            <a:off x="13096875" y="4572000"/>
            <a:ext cx="0" cy="361950"/>
          </a:xfrm>
          <a:prstGeom prst="line">
            <a:avLst/>
          </a:prstGeom>
          <a:ln w="28575" cap="flat">
            <a:solidFill>
              <a:srgbClr val="00A7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35" name="Group 35"/>
          <p:cNvGrpSpPr/>
          <p:nvPr/>
        </p:nvGrpSpPr>
        <p:grpSpPr>
          <a:xfrm>
            <a:off x="10001250" y="5000625"/>
            <a:ext cx="6191250" cy="742950"/>
            <a:chOff x="0" y="0"/>
            <a:chExt cx="8255000" cy="9906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255000" cy="990600"/>
            </a:xfrm>
            <a:custGeom>
              <a:avLst/>
              <a:gdLst/>
              <a:ahLst/>
              <a:cxnLst/>
              <a:rect l="l" t="t" r="r" b="b"/>
              <a:pathLst>
                <a:path w="8255000" h="990600">
                  <a:moveTo>
                    <a:pt x="31262" y="0"/>
                  </a:moveTo>
                  <a:lnTo>
                    <a:pt x="8223738" y="0"/>
                  </a:lnTo>
                  <a:cubicBezTo>
                    <a:pt x="8232029" y="0"/>
                    <a:pt x="8239981" y="3294"/>
                    <a:pt x="8245844" y="9156"/>
                  </a:cubicBezTo>
                  <a:cubicBezTo>
                    <a:pt x="8251706" y="15019"/>
                    <a:pt x="8255000" y="22970"/>
                    <a:pt x="8255000" y="31262"/>
                  </a:cubicBezTo>
                  <a:lnTo>
                    <a:pt x="8255000" y="959338"/>
                  </a:lnTo>
                  <a:cubicBezTo>
                    <a:pt x="8255000" y="967630"/>
                    <a:pt x="8251706" y="975581"/>
                    <a:pt x="8245844" y="981444"/>
                  </a:cubicBezTo>
                  <a:cubicBezTo>
                    <a:pt x="8239981" y="987306"/>
                    <a:pt x="8232029" y="990600"/>
                    <a:pt x="8223738" y="990600"/>
                  </a:cubicBezTo>
                  <a:lnTo>
                    <a:pt x="31262" y="990600"/>
                  </a:lnTo>
                  <a:cubicBezTo>
                    <a:pt x="22970" y="990600"/>
                    <a:pt x="15019" y="987306"/>
                    <a:pt x="9156" y="981444"/>
                  </a:cubicBezTo>
                  <a:cubicBezTo>
                    <a:pt x="3294" y="975581"/>
                    <a:pt x="0" y="967630"/>
                    <a:pt x="0" y="959338"/>
                  </a:cubicBezTo>
                  <a:lnTo>
                    <a:pt x="0" y="31262"/>
                  </a:lnTo>
                  <a:cubicBezTo>
                    <a:pt x="0" y="22970"/>
                    <a:pt x="3294" y="15019"/>
                    <a:pt x="9156" y="9156"/>
                  </a:cubicBezTo>
                  <a:cubicBezTo>
                    <a:pt x="15019" y="3294"/>
                    <a:pt x="22970" y="0"/>
                    <a:pt x="31262" y="0"/>
                  </a:cubicBezTo>
                  <a:close/>
                </a:path>
              </a:pathLst>
            </a:custGeom>
            <a:solidFill>
              <a:srgbClr val="071B33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9525"/>
              <a:ext cx="8255000" cy="981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8  RECOVERY GENERATED</a:t>
              </a:r>
            </a:p>
          </p:txBody>
        </p:sp>
      </p:grpSp>
      <p:sp>
        <p:nvSpPr>
          <p:cNvPr id="38" name="AutoShape 38"/>
          <p:cNvSpPr/>
          <p:nvPr/>
        </p:nvSpPr>
        <p:spPr>
          <a:xfrm>
            <a:off x="13096875" y="5762625"/>
            <a:ext cx="0" cy="361950"/>
          </a:xfrm>
          <a:prstGeom prst="line">
            <a:avLst/>
          </a:prstGeom>
          <a:ln w="28575" cap="flat">
            <a:solidFill>
              <a:srgbClr val="00A7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39" name="Group 39"/>
          <p:cNvGrpSpPr/>
          <p:nvPr/>
        </p:nvGrpSpPr>
        <p:grpSpPr>
          <a:xfrm>
            <a:off x="10001250" y="6191250"/>
            <a:ext cx="6191250" cy="742950"/>
            <a:chOff x="0" y="0"/>
            <a:chExt cx="8255000" cy="9906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255000" cy="990600"/>
            </a:xfrm>
            <a:custGeom>
              <a:avLst/>
              <a:gdLst/>
              <a:ahLst/>
              <a:cxnLst/>
              <a:rect l="l" t="t" r="r" b="b"/>
              <a:pathLst>
                <a:path w="8255000" h="990600">
                  <a:moveTo>
                    <a:pt x="31262" y="0"/>
                  </a:moveTo>
                  <a:lnTo>
                    <a:pt x="8223738" y="0"/>
                  </a:lnTo>
                  <a:cubicBezTo>
                    <a:pt x="8232029" y="0"/>
                    <a:pt x="8239981" y="3294"/>
                    <a:pt x="8245844" y="9156"/>
                  </a:cubicBezTo>
                  <a:cubicBezTo>
                    <a:pt x="8251706" y="15019"/>
                    <a:pt x="8255000" y="22970"/>
                    <a:pt x="8255000" y="31262"/>
                  </a:cubicBezTo>
                  <a:lnTo>
                    <a:pt x="8255000" y="959338"/>
                  </a:lnTo>
                  <a:cubicBezTo>
                    <a:pt x="8255000" y="967630"/>
                    <a:pt x="8251706" y="975581"/>
                    <a:pt x="8245844" y="981444"/>
                  </a:cubicBezTo>
                  <a:cubicBezTo>
                    <a:pt x="8239981" y="987306"/>
                    <a:pt x="8232029" y="990600"/>
                    <a:pt x="8223738" y="990600"/>
                  </a:cubicBezTo>
                  <a:lnTo>
                    <a:pt x="31262" y="990600"/>
                  </a:lnTo>
                  <a:cubicBezTo>
                    <a:pt x="22970" y="990600"/>
                    <a:pt x="15019" y="987306"/>
                    <a:pt x="9156" y="981444"/>
                  </a:cubicBezTo>
                  <a:cubicBezTo>
                    <a:pt x="3294" y="975581"/>
                    <a:pt x="0" y="967630"/>
                    <a:pt x="0" y="959338"/>
                  </a:cubicBezTo>
                  <a:lnTo>
                    <a:pt x="0" y="31262"/>
                  </a:lnTo>
                  <a:cubicBezTo>
                    <a:pt x="0" y="22970"/>
                    <a:pt x="3294" y="15019"/>
                    <a:pt x="9156" y="9156"/>
                  </a:cubicBezTo>
                  <a:cubicBezTo>
                    <a:pt x="15019" y="3294"/>
                    <a:pt x="22970" y="0"/>
                    <a:pt x="31262" y="0"/>
                  </a:cubicBezTo>
                  <a:close/>
                </a:path>
              </a:pathLst>
            </a:custGeom>
            <a:solidFill>
              <a:srgbClr val="E7F1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9525"/>
              <a:ext cx="8255000" cy="981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9  72-HOUR PLAN UPDATED</a:t>
              </a:r>
            </a:p>
          </p:txBody>
        </p:sp>
      </p:grpSp>
      <p:sp>
        <p:nvSpPr>
          <p:cNvPr id="42" name="AutoShape 42"/>
          <p:cNvSpPr/>
          <p:nvPr/>
        </p:nvSpPr>
        <p:spPr>
          <a:xfrm>
            <a:off x="13096875" y="6953250"/>
            <a:ext cx="0" cy="361950"/>
          </a:xfrm>
          <a:prstGeom prst="line">
            <a:avLst/>
          </a:prstGeom>
          <a:ln w="28575" cap="flat">
            <a:solidFill>
              <a:srgbClr val="00A7C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43" name="Group 43"/>
          <p:cNvGrpSpPr/>
          <p:nvPr/>
        </p:nvGrpSpPr>
        <p:grpSpPr>
          <a:xfrm>
            <a:off x="10001250" y="7381875"/>
            <a:ext cx="6191250" cy="742950"/>
            <a:chOff x="0" y="0"/>
            <a:chExt cx="8255000" cy="9906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255000" cy="990600"/>
            </a:xfrm>
            <a:custGeom>
              <a:avLst/>
              <a:gdLst/>
              <a:ahLst/>
              <a:cxnLst/>
              <a:rect l="l" t="t" r="r" b="b"/>
              <a:pathLst>
                <a:path w="8255000" h="990600">
                  <a:moveTo>
                    <a:pt x="31262" y="0"/>
                  </a:moveTo>
                  <a:lnTo>
                    <a:pt x="8223738" y="0"/>
                  </a:lnTo>
                  <a:cubicBezTo>
                    <a:pt x="8232029" y="0"/>
                    <a:pt x="8239981" y="3294"/>
                    <a:pt x="8245844" y="9156"/>
                  </a:cubicBezTo>
                  <a:cubicBezTo>
                    <a:pt x="8251706" y="15019"/>
                    <a:pt x="8255000" y="22970"/>
                    <a:pt x="8255000" y="31262"/>
                  </a:cubicBezTo>
                  <a:lnTo>
                    <a:pt x="8255000" y="959338"/>
                  </a:lnTo>
                  <a:cubicBezTo>
                    <a:pt x="8255000" y="967630"/>
                    <a:pt x="8251706" y="975581"/>
                    <a:pt x="8245844" y="981444"/>
                  </a:cubicBezTo>
                  <a:cubicBezTo>
                    <a:pt x="8239981" y="987306"/>
                    <a:pt x="8232029" y="990600"/>
                    <a:pt x="8223738" y="990600"/>
                  </a:cubicBezTo>
                  <a:lnTo>
                    <a:pt x="31262" y="990600"/>
                  </a:lnTo>
                  <a:cubicBezTo>
                    <a:pt x="22970" y="990600"/>
                    <a:pt x="15019" y="987306"/>
                    <a:pt x="9156" y="981444"/>
                  </a:cubicBezTo>
                  <a:cubicBezTo>
                    <a:pt x="3294" y="975581"/>
                    <a:pt x="0" y="967630"/>
                    <a:pt x="0" y="959338"/>
                  </a:cubicBezTo>
                  <a:lnTo>
                    <a:pt x="0" y="31262"/>
                  </a:lnTo>
                  <a:cubicBezTo>
                    <a:pt x="0" y="22970"/>
                    <a:pt x="3294" y="15019"/>
                    <a:pt x="9156" y="9156"/>
                  </a:cubicBezTo>
                  <a:cubicBezTo>
                    <a:pt x="15019" y="3294"/>
                    <a:pt x="22970" y="0"/>
                    <a:pt x="31262" y="0"/>
                  </a:cubicBezTo>
                  <a:close/>
                </a:path>
              </a:pathLst>
            </a:custGeom>
            <a:solidFill>
              <a:srgbClr val="E7F1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9525"/>
              <a:ext cx="8255000" cy="981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/>
              <a:r>
                <a:rPr lang="en-US" sz="20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10  GEMINI EXPLAINS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2667000" y="8820150"/>
            <a:ext cx="12954000" cy="984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3200" b="1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One operational state. Multiple intelligence layers. One informed decision.</a:t>
            </a:r>
          </a:p>
        </p:txBody>
      </p:sp>
      <p:sp>
        <p:nvSpPr>
          <p:cNvPr id="49" name="TextBox 22">
            <a:extLst>
              <a:ext uri="{FF2B5EF4-FFF2-40B4-BE49-F238E27FC236}">
                <a16:creationId xmlns:a16="http://schemas.microsoft.com/office/drawing/2014/main" id="{9EFE5A4E-B5D5-F158-2CB0-5DD93414847B}"/>
              </a:ext>
            </a:extLst>
          </p:cNvPr>
          <p:cNvSpPr txBox="1"/>
          <p:nvPr/>
        </p:nvSpPr>
        <p:spPr>
          <a:xfrm>
            <a:off x="990600" y="9667875"/>
            <a:ext cx="4762500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b="1" spc="144" dirty="0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PortsPilot AI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0600" y="590550"/>
            <a:ext cx="11430000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b="1" spc="162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IMPACT + FUTURE POSSIBILITIES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90600" y="1076325"/>
            <a:ext cx="14287500" cy="1661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5400" b="1">
                <a:solidFill>
                  <a:srgbClr val="10293F"/>
                </a:solidFill>
                <a:latin typeface="DM Sans Bold"/>
                <a:ea typeface="DM Sans Bold"/>
                <a:cs typeface="DM Sans Bold"/>
                <a:sym typeface="DM Sans Bold"/>
              </a:rPr>
              <a:t>Building ports that adapt before disruption arrives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649700" y="438150"/>
            <a:ext cx="647700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lang="en-US" sz="2400">
                <a:solidFill>
                  <a:srgbClr val="597084"/>
                </a:solidFill>
                <a:latin typeface="DM Sans"/>
                <a:ea typeface="DM Sans"/>
                <a:cs typeface="DM Sans"/>
                <a:sym typeface="DM Sans"/>
              </a:rPr>
              <a:t>16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0600" y="2857500"/>
            <a:ext cx="7715250" cy="5810250"/>
            <a:chOff x="0" y="0"/>
            <a:chExt cx="10287000" cy="774700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10287000" cy="7747000"/>
              <a:chOff x="0" y="0"/>
              <a:chExt cx="10287000" cy="7747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0287000" cy="7747000"/>
              </a:xfrm>
              <a:custGeom>
                <a:avLst/>
                <a:gdLst/>
                <a:ahLst/>
                <a:cxnLst/>
                <a:rect l="l" t="t" r="r" b="b"/>
                <a:pathLst>
                  <a:path w="10287000" h="7747000">
                    <a:moveTo>
                      <a:pt x="0" y="0"/>
                    </a:moveTo>
                    <a:lnTo>
                      <a:pt x="10287000" y="0"/>
                    </a:lnTo>
                    <a:lnTo>
                      <a:pt x="10287000" y="7747000"/>
                    </a:lnTo>
                    <a:lnTo>
                      <a:pt x="0" y="7747000"/>
                    </a:lnTo>
                    <a:close/>
                  </a:path>
                </a:pathLst>
              </a:custGeom>
              <a:solidFill>
                <a:srgbClr val="071B33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0287000" cy="778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/>
                <a:endParaRPr sz="2800"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584200" y="552451"/>
              <a:ext cx="8890000" cy="369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b="1" spc="162">
                  <a:solidFill>
                    <a:srgbClr val="00A7C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IMPACT TODAY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4200" y="1454151"/>
              <a:ext cx="8763000" cy="19697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48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Earlier intervention.</a:t>
              </a:r>
            </a:p>
            <a:p>
              <a:pPr algn="l"/>
              <a:r>
                <a:rPr lang="en-US" sz="48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Better decisions.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84200" y="3600451"/>
              <a:ext cx="8763000" cy="19697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4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PORT OPERATORS  /  operational foresight</a:t>
              </a:r>
            </a:p>
            <a:p>
              <a:pPr algn="l"/>
              <a:r>
                <a:rPr lang="en-US" sz="24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SHIPPING COMPANIES  /  fewer delays</a:t>
              </a:r>
            </a:p>
            <a:p>
              <a:pPr algn="l"/>
              <a:r>
                <a:rPr lang="en-US" sz="24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TERMINAL OPS  /  improved utilisation</a:t>
              </a:r>
            </a:p>
            <a:p>
              <a:pPr algn="l"/>
              <a:r>
                <a:rPr lang="en-US" sz="24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PORT MANAGEMENT  /  resilient planning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572625" y="2857500"/>
            <a:ext cx="7715250" cy="5810250"/>
            <a:chOff x="0" y="0"/>
            <a:chExt cx="10287000" cy="7747000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0287000" cy="7747000"/>
              <a:chOff x="0" y="0"/>
              <a:chExt cx="10287000" cy="77470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0287000" cy="7747000"/>
              </a:xfrm>
              <a:custGeom>
                <a:avLst/>
                <a:gdLst/>
                <a:ahLst/>
                <a:cxnLst/>
                <a:rect l="l" t="t" r="r" b="b"/>
                <a:pathLst>
                  <a:path w="10287000" h="7747000">
                    <a:moveTo>
                      <a:pt x="0" y="0"/>
                    </a:moveTo>
                    <a:lnTo>
                      <a:pt x="10287000" y="0"/>
                    </a:lnTo>
                    <a:lnTo>
                      <a:pt x="10287000" y="7747000"/>
                    </a:lnTo>
                    <a:lnTo>
                      <a:pt x="0" y="7747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0287000" cy="778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/>
                <a:endParaRPr sz="2800"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571500" y="552451"/>
              <a:ext cx="8890000" cy="369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b="1" spc="162">
                  <a:solidFill>
                    <a:srgbClr val="00A7C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FUTURE POSSIBILITIES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71500" y="1444625"/>
              <a:ext cx="8763000" cy="9028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4400" b="1">
                  <a:solidFill>
                    <a:srgbClr val="10293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Expand the digital twin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1500" y="2828925"/>
              <a:ext cx="8763000" cy="40216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/>
              <a:r>
                <a:rPr lang="en-US" sz="2800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More real-time maritime data</a:t>
              </a:r>
            </a:p>
            <a:p>
              <a:pPr algn="l"/>
              <a:r>
                <a:rPr lang="en-US" sz="2800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Weather and external events</a:t>
              </a:r>
            </a:p>
            <a:p>
              <a:pPr algn="l"/>
              <a:r>
                <a:rPr lang="en-US" sz="2800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Larger-scale optimisation</a:t>
              </a:r>
            </a:p>
            <a:p>
              <a:pPr algn="l"/>
              <a:r>
                <a:rPr lang="en-US" sz="2800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Advanced predictive models</a:t>
              </a:r>
            </a:p>
            <a:p>
              <a:pPr algn="l"/>
              <a:r>
                <a:rPr lang="en-US" sz="2800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Multi-port coordination</a:t>
              </a:r>
            </a:p>
            <a:p>
              <a:pPr algn="l"/>
              <a:r>
                <a:rPr lang="en-US" sz="2800">
                  <a:solidFill>
                    <a:srgbClr val="597084"/>
                  </a:solidFill>
                  <a:latin typeface="DM Sans"/>
                  <a:ea typeface="DM Sans"/>
                  <a:cs typeface="DM Sans"/>
                  <a:sym typeface="DM Sans"/>
                </a:rPr>
                <a:t>Deeper automation—with human approval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990600" y="9667875"/>
            <a:ext cx="4762500" cy="276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b="1" spc="144" dirty="0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PortsPilot AI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B33">
                <a:alpha val="63922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 sz="2400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90600" y="2771775"/>
            <a:ext cx="13811250" cy="1826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88"/>
              </a:lnSpc>
            </a:pPr>
            <a:r>
              <a:rPr lang="en-US" sz="80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SEE THE BOTTLENECK</a:t>
            </a:r>
          </a:p>
          <a:p>
            <a:pPr algn="l">
              <a:lnSpc>
                <a:spcPts val="6688"/>
              </a:lnSpc>
            </a:pPr>
            <a:r>
              <a:rPr lang="en-US" sz="80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BEFORE IT HAPPENS.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0600" y="5476875"/>
            <a:ext cx="9334500" cy="516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Change the plan. Prevent the disruption.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0600" y="8391525"/>
            <a:ext cx="6667500" cy="328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400" b="1" spc="215" dirty="0">
                <a:solidFill>
                  <a:srgbClr val="00A7C4"/>
                </a:solidFill>
                <a:latin typeface="DM Sans Bold"/>
                <a:ea typeface="DM Sans Bold"/>
                <a:cs typeface="DM Sans Bold"/>
                <a:sym typeface="DM Sans Bold"/>
              </a:rPr>
              <a:t>PortsPilot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998</Words>
  <Application>Microsoft Office PowerPoint</Application>
  <PresentationFormat>Custom</PresentationFormat>
  <Paragraphs>275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DM Sans</vt:lpstr>
      <vt:lpstr>Calibri</vt:lpstr>
      <vt:lpstr>DM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Krishkumar Darji</cp:lastModifiedBy>
  <cp:revision>10</cp:revision>
  <dcterms:created xsi:type="dcterms:W3CDTF">2006-08-16T00:00:00Z</dcterms:created>
  <dcterms:modified xsi:type="dcterms:W3CDTF">2026-09-15T18:06:13Z</dcterms:modified>
  <dc:identifier>DAHVKzIchfg</dc:identifier>
</cp:coreProperties>
</file>